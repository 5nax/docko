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0"/>
  </p:notesMasterIdLst>
  <p:handoutMasterIdLst>
    <p:handoutMasterId r:id="rId21"/>
  </p:handoutMasterIdLst>
  <p:sldIdLst>
    <p:sldId id="256" r:id="rId2"/>
    <p:sldId id="257" r:id="rId3"/>
    <p:sldId id="258" r:id="rId4"/>
    <p:sldId id="259" r:id="rId5"/>
    <p:sldId id="260" r:id="rId6"/>
    <p:sldId id="261" r:id="rId7"/>
    <p:sldId id="262" r:id="rId8"/>
    <p:sldId id="279" r:id="rId9"/>
    <p:sldId id="280" r:id="rId10"/>
    <p:sldId id="277" r:id="rId11"/>
    <p:sldId id="283" r:id="rId12"/>
    <p:sldId id="278" r:id="rId13"/>
    <p:sldId id="281" r:id="rId14"/>
    <p:sldId id="285" r:id="rId15"/>
    <p:sldId id="270" r:id="rId16"/>
    <p:sldId id="274" r:id="rId17"/>
    <p:sldId id="284" r:id="rId18"/>
    <p:sldId id="272" r:id="rId19"/>
  </p:sldIdLst>
  <p:sldSz cx="6858000" cy="9906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1" autoAdjust="0"/>
    <p:restoredTop sz="95274" autoAdjust="0"/>
  </p:normalViewPr>
  <p:slideViewPr>
    <p:cSldViewPr snapToGrid="0">
      <p:cViewPr>
        <p:scale>
          <a:sx n="50" d="100"/>
          <a:sy n="50" d="100"/>
        </p:scale>
        <p:origin x="2803" y="245"/>
      </p:cViewPr>
      <p:guideLst/>
    </p:cSldViewPr>
  </p:slideViewPr>
  <p:outlineViewPr>
    <p:cViewPr>
      <p:scale>
        <a:sx n="33" d="100"/>
        <a:sy n="33" d="100"/>
      </p:scale>
      <p:origin x="0" y="-2584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13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7A03D0-AD69-4545-898B-188BC862CB90}" type="datetimeFigureOut">
              <a:rPr lang="en-GB" smtClean="0"/>
              <a:t>22/03/2023</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32B22E-F71E-433B-AC21-FF3A3F18A976}" type="slidenum">
              <a:rPr lang="en-GB" smtClean="0"/>
              <a:t>‹#›</a:t>
            </a:fld>
            <a:endParaRPr lang="en-GB"/>
          </a:p>
        </p:txBody>
      </p:sp>
    </p:spTree>
    <p:extLst>
      <p:ext uri="{BB962C8B-B14F-4D97-AF65-F5344CB8AC3E}">
        <p14:creationId xmlns:p14="http://schemas.microsoft.com/office/powerpoint/2010/main" val="3051386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1C0D10-3E2A-4F91-9789-CC54B0543ADE}" type="datetimeFigureOut">
              <a:rPr lang="en-GB" smtClean="0"/>
              <a:t>22/03/2023</a:t>
            </a:fld>
            <a:endParaRPr lang="en-GB"/>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C72BB-F992-484C-AF80-7EA79DB3C837}" type="slidenum">
              <a:rPr lang="en-GB" smtClean="0"/>
              <a:t>‹#›</a:t>
            </a:fld>
            <a:endParaRPr lang="en-GB"/>
          </a:p>
        </p:txBody>
      </p:sp>
    </p:spTree>
    <p:extLst>
      <p:ext uri="{BB962C8B-B14F-4D97-AF65-F5344CB8AC3E}">
        <p14:creationId xmlns:p14="http://schemas.microsoft.com/office/powerpoint/2010/main" val="185814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154"/>
            </a:lvl1pPr>
          </a:lstStyle>
          <a:p>
            <a:r>
              <a:rPr lang="en-US" dirty="0"/>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662"/>
            </a:lvl1pPr>
            <a:lvl2pPr marL="316520" indent="0" algn="ctr">
              <a:buNone/>
              <a:defRPr sz="1385"/>
            </a:lvl2pPr>
            <a:lvl3pPr marL="633039" indent="0" algn="ctr">
              <a:buNone/>
              <a:defRPr sz="1246"/>
            </a:lvl3pPr>
            <a:lvl4pPr marL="949559" indent="0" algn="ctr">
              <a:buNone/>
              <a:defRPr sz="1108"/>
            </a:lvl4pPr>
            <a:lvl5pPr marL="1266078" indent="0" algn="ctr">
              <a:buNone/>
              <a:defRPr sz="1108"/>
            </a:lvl5pPr>
            <a:lvl6pPr marL="1582598" indent="0" algn="ctr">
              <a:buNone/>
              <a:defRPr sz="1108"/>
            </a:lvl6pPr>
            <a:lvl7pPr marL="1899117" indent="0" algn="ctr">
              <a:buNone/>
              <a:defRPr sz="1108"/>
            </a:lvl7pPr>
            <a:lvl8pPr marL="2215637" indent="0" algn="ctr">
              <a:buNone/>
              <a:defRPr sz="1108"/>
            </a:lvl8pPr>
            <a:lvl9pPr marL="2532156" indent="0" algn="ctr">
              <a:buNone/>
              <a:defRPr sz="1108"/>
            </a:lvl9pPr>
          </a:lstStyle>
          <a:p>
            <a:r>
              <a:rPr lang="en-US" dirty="0"/>
              <a:t>Click to edit Master subtitle style</a:t>
            </a:r>
          </a:p>
        </p:txBody>
      </p:sp>
      <p:sp>
        <p:nvSpPr>
          <p:cNvPr id="4" name="Date Placeholder 3"/>
          <p:cNvSpPr>
            <a:spLocks noGrp="1"/>
          </p:cNvSpPr>
          <p:nvPr>
            <p:ph type="dt" sz="half" idx="10"/>
          </p:nvPr>
        </p:nvSpPr>
        <p:spPr>
          <a:xfrm>
            <a:off x="471488" y="9181401"/>
            <a:ext cx="1543050" cy="527403"/>
          </a:xfrm>
          <a:prstGeom prst="rect">
            <a:avLst/>
          </a:prstGeom>
        </p:spPr>
        <p:txBody>
          <a:bodyPr/>
          <a:lstStyle/>
          <a:p>
            <a:endParaRPr lang="en-US" dirty="0"/>
          </a:p>
        </p:txBody>
      </p:sp>
      <p:sp>
        <p:nvSpPr>
          <p:cNvPr id="5" name="Footer Placeholder 4"/>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19610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2968944" y="9117191"/>
            <a:ext cx="490537" cy="438293"/>
          </a:xfrm>
        </p:spPr>
        <p:txBody>
          <a:bodyPr/>
          <a:lstStyle>
            <a:lvl1pPr>
              <a:defRPr sz="1800"/>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4041634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8" y="2469624"/>
            <a:ext cx="5915025" cy="4120620"/>
          </a:xfrm>
        </p:spPr>
        <p:txBody>
          <a:bodyPr anchor="b"/>
          <a:lstStyle>
            <a:lvl1pPr>
              <a:defRPr sz="4154"/>
            </a:lvl1pPr>
          </a:lstStyle>
          <a:p>
            <a:r>
              <a:rPr lang="en-US" dirty="0"/>
              <a:t>Click to edit Master title style</a:t>
            </a:r>
          </a:p>
        </p:txBody>
      </p:sp>
      <p:sp>
        <p:nvSpPr>
          <p:cNvPr id="3" name="Text Placeholder 2"/>
          <p:cNvSpPr>
            <a:spLocks noGrp="1"/>
          </p:cNvSpPr>
          <p:nvPr>
            <p:ph type="body" idx="1"/>
          </p:nvPr>
        </p:nvSpPr>
        <p:spPr>
          <a:xfrm>
            <a:off x="467918" y="6629230"/>
            <a:ext cx="5915025" cy="2166937"/>
          </a:xfrm>
        </p:spPr>
        <p:txBody>
          <a:bodyPr/>
          <a:lstStyle>
            <a:lvl1pPr marL="0" indent="0">
              <a:buNone/>
              <a:defRPr sz="1662">
                <a:solidFill>
                  <a:schemeClr val="tx1"/>
                </a:solidFill>
              </a:defRPr>
            </a:lvl1pPr>
            <a:lvl2pPr marL="316520" indent="0">
              <a:buNone/>
              <a:defRPr sz="1385">
                <a:solidFill>
                  <a:schemeClr val="tx1">
                    <a:tint val="75000"/>
                  </a:schemeClr>
                </a:solidFill>
              </a:defRPr>
            </a:lvl2pPr>
            <a:lvl3pPr marL="633039" indent="0">
              <a:buNone/>
              <a:defRPr sz="1246">
                <a:solidFill>
                  <a:schemeClr val="tx1">
                    <a:tint val="75000"/>
                  </a:schemeClr>
                </a:solidFill>
              </a:defRPr>
            </a:lvl3pPr>
            <a:lvl4pPr marL="949559" indent="0">
              <a:buNone/>
              <a:defRPr sz="1108">
                <a:solidFill>
                  <a:schemeClr val="tx1">
                    <a:tint val="75000"/>
                  </a:schemeClr>
                </a:solidFill>
              </a:defRPr>
            </a:lvl4pPr>
            <a:lvl5pPr marL="1266078" indent="0">
              <a:buNone/>
              <a:defRPr sz="1108">
                <a:solidFill>
                  <a:schemeClr val="tx1">
                    <a:tint val="75000"/>
                  </a:schemeClr>
                </a:solidFill>
              </a:defRPr>
            </a:lvl5pPr>
            <a:lvl6pPr marL="1582598" indent="0">
              <a:buNone/>
              <a:defRPr sz="1108">
                <a:solidFill>
                  <a:schemeClr val="tx1">
                    <a:tint val="75000"/>
                  </a:schemeClr>
                </a:solidFill>
              </a:defRPr>
            </a:lvl6pPr>
            <a:lvl7pPr marL="1899117" indent="0">
              <a:buNone/>
              <a:defRPr sz="1108">
                <a:solidFill>
                  <a:schemeClr val="tx1">
                    <a:tint val="75000"/>
                  </a:schemeClr>
                </a:solidFill>
              </a:defRPr>
            </a:lvl7pPr>
            <a:lvl8pPr marL="2215637" indent="0">
              <a:buNone/>
              <a:defRPr sz="1108">
                <a:solidFill>
                  <a:schemeClr val="tx1">
                    <a:tint val="75000"/>
                  </a:schemeClr>
                </a:solidFill>
              </a:defRPr>
            </a:lvl8pPr>
            <a:lvl9pPr marL="2532156" indent="0">
              <a:buNone/>
              <a:defRPr sz="1108">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471488" y="9181401"/>
            <a:ext cx="1543050" cy="527403"/>
          </a:xfrm>
          <a:prstGeom prst="rect">
            <a:avLst/>
          </a:prstGeom>
        </p:spPr>
        <p:txBody>
          <a:bodyPr/>
          <a:lstStyle/>
          <a:p>
            <a:endParaRPr lang="en-US" dirty="0"/>
          </a:p>
        </p:txBody>
      </p:sp>
      <p:sp>
        <p:nvSpPr>
          <p:cNvPr id="5" name="Footer Placeholder 4"/>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94951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471488" y="9181401"/>
            <a:ext cx="1543050" cy="527403"/>
          </a:xfrm>
          <a:prstGeom prst="rect">
            <a:avLst/>
          </a:prstGeom>
        </p:spPr>
        <p:txBody>
          <a:bodyPr/>
          <a:lstStyle/>
          <a:p>
            <a:endParaRPr lang="en-US" dirty="0"/>
          </a:p>
        </p:txBody>
      </p:sp>
      <p:sp>
        <p:nvSpPr>
          <p:cNvPr id="6" name="Footer Placeholder 5"/>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67220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2" y="527405"/>
            <a:ext cx="5915025" cy="1914702"/>
          </a:xfrm>
        </p:spPr>
        <p:txBody>
          <a:bodyPr/>
          <a:lstStyle/>
          <a:p>
            <a:r>
              <a:rPr lang="en-US" dirty="0"/>
              <a:t>Click to edit Master title style</a:t>
            </a:r>
          </a:p>
        </p:txBody>
      </p:sp>
      <p:sp>
        <p:nvSpPr>
          <p:cNvPr id="3" name="Text Placeholder 2"/>
          <p:cNvSpPr>
            <a:spLocks noGrp="1"/>
          </p:cNvSpPr>
          <p:nvPr>
            <p:ph type="body" idx="1"/>
          </p:nvPr>
        </p:nvSpPr>
        <p:spPr>
          <a:xfrm>
            <a:off x="472383" y="2428351"/>
            <a:ext cx="2901255" cy="1190095"/>
          </a:xfrm>
        </p:spPr>
        <p:txBody>
          <a:bodyPr anchor="b"/>
          <a:lstStyle>
            <a:lvl1pPr marL="0" indent="0">
              <a:buNone/>
              <a:defRPr sz="1662" b="1"/>
            </a:lvl1pPr>
            <a:lvl2pPr marL="316520" indent="0">
              <a:buNone/>
              <a:defRPr sz="1385" b="1"/>
            </a:lvl2pPr>
            <a:lvl3pPr marL="633039" indent="0">
              <a:buNone/>
              <a:defRPr sz="1246" b="1"/>
            </a:lvl3pPr>
            <a:lvl4pPr marL="949559" indent="0">
              <a:buNone/>
              <a:defRPr sz="1108" b="1"/>
            </a:lvl4pPr>
            <a:lvl5pPr marL="1266078" indent="0">
              <a:buNone/>
              <a:defRPr sz="1108" b="1"/>
            </a:lvl5pPr>
            <a:lvl6pPr marL="1582598" indent="0">
              <a:buNone/>
              <a:defRPr sz="1108" b="1"/>
            </a:lvl6pPr>
            <a:lvl7pPr marL="1899117" indent="0">
              <a:buNone/>
              <a:defRPr sz="1108" b="1"/>
            </a:lvl7pPr>
            <a:lvl8pPr marL="2215637" indent="0">
              <a:buNone/>
              <a:defRPr sz="1108" b="1"/>
            </a:lvl8pPr>
            <a:lvl9pPr marL="2532156" indent="0">
              <a:buNone/>
              <a:defRPr sz="1108" b="1"/>
            </a:lvl9pPr>
          </a:lstStyle>
          <a:p>
            <a:pPr lvl="0"/>
            <a:r>
              <a:rPr lang="en-US" dirty="0"/>
              <a:t>Click to edit Master text styles</a:t>
            </a:r>
          </a:p>
        </p:txBody>
      </p:sp>
      <p:sp>
        <p:nvSpPr>
          <p:cNvPr id="4" name="Content Placeholder 3"/>
          <p:cNvSpPr>
            <a:spLocks noGrp="1"/>
          </p:cNvSpPr>
          <p:nvPr>
            <p:ph sz="half" idx="2"/>
          </p:nvPr>
        </p:nvSpPr>
        <p:spPr>
          <a:xfrm>
            <a:off x="472383" y="3618444"/>
            <a:ext cx="2901255"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471864" y="2428351"/>
            <a:ext cx="2915543" cy="1190095"/>
          </a:xfrm>
        </p:spPr>
        <p:txBody>
          <a:bodyPr anchor="b"/>
          <a:lstStyle>
            <a:lvl1pPr marL="0" indent="0">
              <a:buNone/>
              <a:defRPr sz="1662" b="1"/>
            </a:lvl1pPr>
            <a:lvl2pPr marL="316520" indent="0">
              <a:buNone/>
              <a:defRPr sz="1385" b="1"/>
            </a:lvl2pPr>
            <a:lvl3pPr marL="633039" indent="0">
              <a:buNone/>
              <a:defRPr sz="1246" b="1"/>
            </a:lvl3pPr>
            <a:lvl4pPr marL="949559" indent="0">
              <a:buNone/>
              <a:defRPr sz="1108" b="1"/>
            </a:lvl4pPr>
            <a:lvl5pPr marL="1266078" indent="0">
              <a:buNone/>
              <a:defRPr sz="1108" b="1"/>
            </a:lvl5pPr>
            <a:lvl6pPr marL="1582598" indent="0">
              <a:buNone/>
              <a:defRPr sz="1108" b="1"/>
            </a:lvl6pPr>
            <a:lvl7pPr marL="1899117" indent="0">
              <a:buNone/>
              <a:defRPr sz="1108" b="1"/>
            </a:lvl7pPr>
            <a:lvl8pPr marL="2215637" indent="0">
              <a:buNone/>
              <a:defRPr sz="1108" b="1"/>
            </a:lvl8pPr>
            <a:lvl9pPr marL="2532156" indent="0">
              <a:buNone/>
              <a:defRPr sz="1108" b="1"/>
            </a:lvl9pPr>
          </a:lstStyle>
          <a:p>
            <a:pPr lvl="0"/>
            <a:r>
              <a:rPr lang="en-US" dirty="0"/>
              <a:t>Click to edit Master text styles</a:t>
            </a:r>
          </a:p>
        </p:txBody>
      </p:sp>
      <p:sp>
        <p:nvSpPr>
          <p:cNvPr id="6" name="Content Placeholder 5"/>
          <p:cNvSpPr>
            <a:spLocks noGrp="1"/>
          </p:cNvSpPr>
          <p:nvPr>
            <p:ph sz="quarter" idx="4"/>
          </p:nvPr>
        </p:nvSpPr>
        <p:spPr>
          <a:xfrm>
            <a:off x="3471864" y="3618444"/>
            <a:ext cx="2915543"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a:xfrm>
            <a:off x="471488" y="9181401"/>
            <a:ext cx="1543050" cy="527403"/>
          </a:xfrm>
          <a:prstGeom prst="rect">
            <a:avLst/>
          </a:prstGeom>
        </p:spPr>
        <p:txBody>
          <a:bodyPr/>
          <a:lstStyle/>
          <a:p>
            <a:endParaRPr lang="en-US" dirty="0"/>
          </a:p>
        </p:txBody>
      </p:sp>
      <p:sp>
        <p:nvSpPr>
          <p:cNvPr id="8" name="Footer Placeholder 7"/>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2458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a:xfrm>
            <a:off x="471488" y="9181401"/>
            <a:ext cx="1543050" cy="527403"/>
          </a:xfrm>
          <a:prstGeom prst="rect">
            <a:avLst/>
          </a:prstGeom>
        </p:spPr>
        <p:txBody>
          <a:bodyPr/>
          <a:lstStyle/>
          <a:p>
            <a:endParaRPr lang="en-US" dirty="0"/>
          </a:p>
        </p:txBody>
      </p:sp>
      <p:sp>
        <p:nvSpPr>
          <p:cNvPr id="4" name="Footer Placeholder 3"/>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8832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401"/>
            <a:ext cx="1543050" cy="527403"/>
          </a:xfrm>
          <a:prstGeom prst="rect">
            <a:avLst/>
          </a:prstGeom>
        </p:spPr>
        <p:txBody>
          <a:bodyPr/>
          <a:lstStyle/>
          <a:p>
            <a:endParaRPr lang="en-US" dirty="0"/>
          </a:p>
        </p:txBody>
      </p:sp>
      <p:sp>
        <p:nvSpPr>
          <p:cNvPr id="3" name="Footer Placeholder 2"/>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48222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215"/>
            </a:lvl1pPr>
          </a:lstStyle>
          <a:p>
            <a:r>
              <a:rPr lang="en-US" dirty="0"/>
              <a:t>Click to edit Master title style</a:t>
            </a:r>
          </a:p>
        </p:txBody>
      </p:sp>
      <p:sp>
        <p:nvSpPr>
          <p:cNvPr id="3" name="Content Placeholder 2"/>
          <p:cNvSpPr>
            <a:spLocks noGrp="1"/>
          </p:cNvSpPr>
          <p:nvPr>
            <p:ph idx="1"/>
          </p:nvPr>
        </p:nvSpPr>
        <p:spPr>
          <a:xfrm>
            <a:off x="2915544" y="1426287"/>
            <a:ext cx="3471863" cy="7039681"/>
          </a:xfrm>
        </p:spPr>
        <p:txBody>
          <a:bodyPr/>
          <a:lstStyle>
            <a:lvl1pPr>
              <a:defRPr sz="2215"/>
            </a:lvl1pPr>
            <a:lvl2pPr>
              <a:defRPr sz="1938"/>
            </a:lvl2pPr>
            <a:lvl3pPr>
              <a:defRPr sz="1662"/>
            </a:lvl3pPr>
            <a:lvl4pPr>
              <a:defRPr sz="1385"/>
            </a:lvl4pPr>
            <a:lvl5pPr>
              <a:defRPr sz="1385"/>
            </a:lvl5pPr>
            <a:lvl6pPr>
              <a:defRPr sz="1385"/>
            </a:lvl6pPr>
            <a:lvl7pPr>
              <a:defRPr sz="1385"/>
            </a:lvl7pPr>
            <a:lvl8pPr>
              <a:defRPr sz="1385"/>
            </a:lvl8pPr>
            <a:lvl9pPr>
              <a:defRPr sz="1385"/>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72381" y="2971804"/>
            <a:ext cx="2211884" cy="5505627"/>
          </a:xfrm>
        </p:spPr>
        <p:txBody>
          <a:bodyPr/>
          <a:lstStyle>
            <a:lvl1pPr marL="0" indent="0">
              <a:buNone/>
              <a:defRPr sz="1108"/>
            </a:lvl1pPr>
            <a:lvl2pPr marL="316520" indent="0">
              <a:buNone/>
              <a:defRPr sz="969"/>
            </a:lvl2pPr>
            <a:lvl3pPr marL="633039" indent="0">
              <a:buNone/>
              <a:defRPr sz="831"/>
            </a:lvl3pPr>
            <a:lvl4pPr marL="949559" indent="0">
              <a:buNone/>
              <a:defRPr sz="692"/>
            </a:lvl4pPr>
            <a:lvl5pPr marL="1266078" indent="0">
              <a:buNone/>
              <a:defRPr sz="692"/>
            </a:lvl5pPr>
            <a:lvl6pPr marL="1582598" indent="0">
              <a:buNone/>
              <a:defRPr sz="692"/>
            </a:lvl6pPr>
            <a:lvl7pPr marL="1899117" indent="0">
              <a:buNone/>
              <a:defRPr sz="692"/>
            </a:lvl7pPr>
            <a:lvl8pPr marL="2215637" indent="0">
              <a:buNone/>
              <a:defRPr sz="692"/>
            </a:lvl8pPr>
            <a:lvl9pPr marL="2532156" indent="0">
              <a:buNone/>
              <a:defRPr sz="692"/>
            </a:lvl9pPr>
          </a:lstStyle>
          <a:p>
            <a:pPr lvl="0"/>
            <a:r>
              <a:rPr lang="en-US" dirty="0"/>
              <a:t>Click to edit Master text styles</a:t>
            </a:r>
          </a:p>
        </p:txBody>
      </p:sp>
      <p:sp>
        <p:nvSpPr>
          <p:cNvPr id="5" name="Date Placeholder 4"/>
          <p:cNvSpPr>
            <a:spLocks noGrp="1"/>
          </p:cNvSpPr>
          <p:nvPr>
            <p:ph type="dt" sz="half" idx="10"/>
          </p:nvPr>
        </p:nvSpPr>
        <p:spPr>
          <a:xfrm>
            <a:off x="471488" y="9181401"/>
            <a:ext cx="1543050" cy="527403"/>
          </a:xfrm>
          <a:prstGeom prst="rect">
            <a:avLst/>
          </a:prstGeom>
        </p:spPr>
        <p:txBody>
          <a:bodyPr/>
          <a:lstStyle/>
          <a:p>
            <a:endParaRPr lang="en-US" dirty="0"/>
          </a:p>
        </p:txBody>
      </p:sp>
      <p:sp>
        <p:nvSpPr>
          <p:cNvPr id="6" name="Footer Placeholder 5"/>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23760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215"/>
            </a:lvl1pPr>
          </a:lstStyle>
          <a:p>
            <a:r>
              <a:rPr lang="en-US" dirty="0"/>
              <a:t>Click to edit Master title style</a:t>
            </a:r>
          </a:p>
        </p:txBody>
      </p:sp>
      <p:sp>
        <p:nvSpPr>
          <p:cNvPr id="3" name="Picture Placeholder 2"/>
          <p:cNvSpPr>
            <a:spLocks noGrp="1" noChangeAspect="1"/>
          </p:cNvSpPr>
          <p:nvPr>
            <p:ph type="pic" idx="1"/>
          </p:nvPr>
        </p:nvSpPr>
        <p:spPr>
          <a:xfrm>
            <a:off x="2915544" y="1426287"/>
            <a:ext cx="3471863" cy="7039681"/>
          </a:xfrm>
        </p:spPr>
        <p:txBody>
          <a:bodyPr anchor="t"/>
          <a:lstStyle>
            <a:lvl1pPr marL="0" indent="0">
              <a:buNone/>
              <a:defRPr sz="2215"/>
            </a:lvl1pPr>
            <a:lvl2pPr marL="316520" indent="0">
              <a:buNone/>
              <a:defRPr sz="1938"/>
            </a:lvl2pPr>
            <a:lvl3pPr marL="633039" indent="0">
              <a:buNone/>
              <a:defRPr sz="1662"/>
            </a:lvl3pPr>
            <a:lvl4pPr marL="949559" indent="0">
              <a:buNone/>
              <a:defRPr sz="1385"/>
            </a:lvl4pPr>
            <a:lvl5pPr marL="1266078" indent="0">
              <a:buNone/>
              <a:defRPr sz="1385"/>
            </a:lvl5pPr>
            <a:lvl6pPr marL="1582598" indent="0">
              <a:buNone/>
              <a:defRPr sz="1385"/>
            </a:lvl6pPr>
            <a:lvl7pPr marL="1899117" indent="0">
              <a:buNone/>
              <a:defRPr sz="1385"/>
            </a:lvl7pPr>
            <a:lvl8pPr marL="2215637" indent="0">
              <a:buNone/>
              <a:defRPr sz="1385"/>
            </a:lvl8pPr>
            <a:lvl9pPr marL="2532156" indent="0">
              <a:buNone/>
              <a:defRPr sz="1385"/>
            </a:lvl9pPr>
          </a:lstStyle>
          <a:p>
            <a:endParaRPr lang="en-US" dirty="0"/>
          </a:p>
        </p:txBody>
      </p:sp>
      <p:sp>
        <p:nvSpPr>
          <p:cNvPr id="4" name="Text Placeholder 3"/>
          <p:cNvSpPr>
            <a:spLocks noGrp="1"/>
          </p:cNvSpPr>
          <p:nvPr>
            <p:ph type="body" sz="half" idx="2"/>
          </p:nvPr>
        </p:nvSpPr>
        <p:spPr>
          <a:xfrm>
            <a:off x="472381" y="2971804"/>
            <a:ext cx="2211884" cy="5505627"/>
          </a:xfrm>
        </p:spPr>
        <p:txBody>
          <a:bodyPr/>
          <a:lstStyle>
            <a:lvl1pPr marL="0" indent="0">
              <a:buNone/>
              <a:defRPr sz="1108"/>
            </a:lvl1pPr>
            <a:lvl2pPr marL="316520" indent="0">
              <a:buNone/>
              <a:defRPr sz="969"/>
            </a:lvl2pPr>
            <a:lvl3pPr marL="633039" indent="0">
              <a:buNone/>
              <a:defRPr sz="831"/>
            </a:lvl3pPr>
            <a:lvl4pPr marL="949559" indent="0">
              <a:buNone/>
              <a:defRPr sz="692"/>
            </a:lvl4pPr>
            <a:lvl5pPr marL="1266078" indent="0">
              <a:buNone/>
              <a:defRPr sz="692"/>
            </a:lvl5pPr>
            <a:lvl6pPr marL="1582598" indent="0">
              <a:buNone/>
              <a:defRPr sz="692"/>
            </a:lvl6pPr>
            <a:lvl7pPr marL="1899117" indent="0">
              <a:buNone/>
              <a:defRPr sz="692"/>
            </a:lvl7pPr>
            <a:lvl8pPr marL="2215637" indent="0">
              <a:buNone/>
              <a:defRPr sz="692"/>
            </a:lvl8pPr>
            <a:lvl9pPr marL="2532156" indent="0">
              <a:buNone/>
              <a:defRPr sz="692"/>
            </a:lvl9pPr>
          </a:lstStyle>
          <a:p>
            <a:pPr lvl="0"/>
            <a:r>
              <a:rPr lang="en-US" dirty="0"/>
              <a:t>Click to edit Master text styles</a:t>
            </a:r>
          </a:p>
        </p:txBody>
      </p:sp>
      <p:sp>
        <p:nvSpPr>
          <p:cNvPr id="5" name="Date Placeholder 4"/>
          <p:cNvSpPr>
            <a:spLocks noGrp="1"/>
          </p:cNvSpPr>
          <p:nvPr>
            <p:ph type="dt" sz="half" idx="10"/>
          </p:nvPr>
        </p:nvSpPr>
        <p:spPr>
          <a:xfrm>
            <a:off x="471488" y="9181401"/>
            <a:ext cx="1543050" cy="527403"/>
          </a:xfrm>
          <a:prstGeom prst="rect">
            <a:avLst/>
          </a:prstGeom>
        </p:spPr>
        <p:txBody>
          <a:bodyPr/>
          <a:lstStyle/>
          <a:p>
            <a:endParaRPr lang="en-US" dirty="0"/>
          </a:p>
        </p:txBody>
      </p:sp>
      <p:sp>
        <p:nvSpPr>
          <p:cNvPr id="6" name="Footer Placeholder 5"/>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00848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71488" y="9181401"/>
            <a:ext cx="1543050" cy="527403"/>
          </a:xfrm>
          <a:prstGeom prst="rect">
            <a:avLst/>
          </a:prstGeom>
        </p:spPr>
        <p:txBody>
          <a:bodyPr/>
          <a:lstStyle/>
          <a:p>
            <a:endParaRPr lang="en-US" dirty="0"/>
          </a:p>
        </p:txBody>
      </p:sp>
      <p:sp>
        <p:nvSpPr>
          <p:cNvPr id="5" name="Footer Placeholder 4"/>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72699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7"/>
            <a:ext cx="1478756" cy="839487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71488" y="527407"/>
            <a:ext cx="4350544" cy="839487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71488" y="9181401"/>
            <a:ext cx="1543050" cy="527403"/>
          </a:xfrm>
          <a:prstGeom prst="rect">
            <a:avLst/>
          </a:prstGeom>
        </p:spPr>
        <p:txBody>
          <a:bodyPr/>
          <a:lstStyle/>
          <a:p>
            <a:endParaRPr lang="en-US" dirty="0"/>
          </a:p>
        </p:txBody>
      </p:sp>
      <p:sp>
        <p:nvSpPr>
          <p:cNvPr id="5" name="Footer Placeholder 4"/>
          <p:cNvSpPr>
            <a:spLocks noGrp="1"/>
          </p:cNvSpPr>
          <p:nvPr>
            <p:ph type="ftr" sz="quarter" idx="11"/>
          </p:nvPr>
        </p:nvSpPr>
        <p:spPr>
          <a:xfrm>
            <a:off x="2271714" y="9181401"/>
            <a:ext cx="2314575" cy="527403"/>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35255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9"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9"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2435543" y="9364281"/>
            <a:ext cx="1543050" cy="527403"/>
          </a:xfrm>
          <a:prstGeom prst="rect">
            <a:avLst/>
          </a:prstGeom>
        </p:spPr>
        <p:txBody>
          <a:bodyPr vert="horz" lIns="91440" tIns="45720" rIns="91440" bIns="45720" rtlCol="0" anchor="ctr"/>
          <a:lstStyle>
            <a:lvl1pPr algn="r">
              <a:defRPr sz="831">
                <a:solidFill>
                  <a:schemeClr val="tx1">
                    <a:tint val="75000"/>
                  </a:schemeClr>
                </a:solidFill>
              </a:defRPr>
            </a:lvl1pPr>
          </a:lstStyle>
          <a:p>
            <a:r>
              <a:rPr lang="en-US" dirty="0"/>
              <a:t>1</a:t>
            </a:r>
          </a:p>
          <a:p>
            <a:endParaRPr lang="en-US" dirty="0"/>
          </a:p>
        </p:txBody>
      </p:sp>
    </p:spTree>
    <p:extLst>
      <p:ext uri="{BB962C8B-B14F-4D97-AF65-F5344CB8AC3E}">
        <p14:creationId xmlns:p14="http://schemas.microsoft.com/office/powerpoint/2010/main" val="3598955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ight Triangle 5">
            <a:extLst>
              <a:ext uri="{FF2B5EF4-FFF2-40B4-BE49-F238E27FC236}">
                <a16:creationId xmlns:a16="http://schemas.microsoft.com/office/drawing/2014/main" id="{CA3868F3-5513-3E04-C2F3-DBE4BC3E885C}"/>
              </a:ext>
            </a:extLst>
          </p:cNvPr>
          <p:cNvSpPr/>
          <p:nvPr/>
        </p:nvSpPr>
        <p:spPr>
          <a:xfrm>
            <a:off x="0" y="7860558"/>
            <a:ext cx="1764862" cy="2125425"/>
          </a:xfrm>
          <a:prstGeom prst="r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gonal Stripe 13">
            <a:extLst>
              <a:ext uri="{FF2B5EF4-FFF2-40B4-BE49-F238E27FC236}">
                <a16:creationId xmlns:a16="http://schemas.microsoft.com/office/drawing/2014/main" id="{B857B6CE-5DCB-3C50-598B-30C1343EF50D}"/>
              </a:ext>
            </a:extLst>
          </p:cNvPr>
          <p:cNvSpPr/>
          <p:nvPr/>
        </p:nvSpPr>
        <p:spPr>
          <a:xfrm rot="5400000">
            <a:off x="-1221378" y="1221381"/>
            <a:ext cx="9245549" cy="6802792"/>
          </a:xfrm>
          <a:prstGeom prst="diagStrip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extBox 1">
            <a:extLst>
              <a:ext uri="{FF2B5EF4-FFF2-40B4-BE49-F238E27FC236}">
                <a16:creationId xmlns:a16="http://schemas.microsoft.com/office/drawing/2014/main" id="{79F40903-3E66-4619-7003-E570FF73E0C7}"/>
              </a:ext>
            </a:extLst>
          </p:cNvPr>
          <p:cNvSpPr txBox="1"/>
          <p:nvPr/>
        </p:nvSpPr>
        <p:spPr>
          <a:xfrm>
            <a:off x="2922497" y="2029545"/>
            <a:ext cx="380688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solidFill>
                  <a:schemeClr val="bg1"/>
                </a:solidFill>
                <a:cs typeface="Calibri"/>
              </a:rPr>
              <a:t>BSc(Hons) Computing</a:t>
            </a:r>
            <a:r>
              <a:rPr lang="en-US" sz="3600" b="1" dirty="0">
                <a:cs typeface="Calibri"/>
              </a:rPr>
              <a:t> </a:t>
            </a:r>
            <a:endParaRPr lang="en-US" sz="3600" b="1" dirty="0">
              <a:solidFill>
                <a:schemeClr val="bg1"/>
              </a:solidFill>
              <a:cs typeface="Calibri"/>
            </a:endParaRPr>
          </a:p>
          <a:p>
            <a:r>
              <a:rPr lang="en-US" sz="3600" b="1" dirty="0">
                <a:solidFill>
                  <a:schemeClr val="bg1"/>
                </a:solidFill>
                <a:cs typeface="Calibri"/>
              </a:rPr>
              <a:t>System</a:t>
            </a:r>
            <a:endParaRPr lang="en-US" sz="3600" b="1" dirty="0">
              <a:solidFill>
                <a:schemeClr val="bg1"/>
              </a:solidFill>
            </a:endParaRPr>
          </a:p>
        </p:txBody>
      </p:sp>
      <p:sp>
        <p:nvSpPr>
          <p:cNvPr id="3" name="TextBox 2">
            <a:extLst>
              <a:ext uri="{FF2B5EF4-FFF2-40B4-BE49-F238E27FC236}">
                <a16:creationId xmlns:a16="http://schemas.microsoft.com/office/drawing/2014/main" id="{5D98BF5B-32DE-9FD6-0437-2F56CA107C1A}"/>
              </a:ext>
            </a:extLst>
          </p:cNvPr>
          <p:cNvSpPr txBox="1"/>
          <p:nvPr/>
        </p:nvSpPr>
        <p:spPr>
          <a:xfrm>
            <a:off x="3652063" y="4423311"/>
            <a:ext cx="28551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solidFill>
                  <a:schemeClr val="bg1"/>
                </a:solidFill>
                <a:cs typeface="Calibri"/>
              </a:rPr>
              <a:t>March</a:t>
            </a:r>
            <a:r>
              <a:rPr lang="en-US" b="1" dirty="0">
                <a:solidFill>
                  <a:schemeClr val="bg1"/>
                </a:solidFill>
                <a:cs typeface="Calibri"/>
              </a:rPr>
              <a:t> </a:t>
            </a:r>
            <a:r>
              <a:rPr lang="en-US" sz="4800" b="1" dirty="0">
                <a:solidFill>
                  <a:schemeClr val="bg1"/>
                </a:solidFill>
                <a:cs typeface="Calibri"/>
              </a:rPr>
              <a:t>2023</a:t>
            </a:r>
          </a:p>
        </p:txBody>
      </p:sp>
      <p:sp>
        <p:nvSpPr>
          <p:cNvPr id="4" name="TextBox 3">
            <a:extLst>
              <a:ext uri="{FF2B5EF4-FFF2-40B4-BE49-F238E27FC236}">
                <a16:creationId xmlns:a16="http://schemas.microsoft.com/office/drawing/2014/main" id="{90AA8F51-AED0-07C6-F7A2-D6CB1140FF2D}"/>
              </a:ext>
            </a:extLst>
          </p:cNvPr>
          <p:cNvSpPr txBox="1"/>
          <p:nvPr/>
        </p:nvSpPr>
        <p:spPr>
          <a:xfrm>
            <a:off x="4394722" y="5486403"/>
            <a:ext cx="205739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chemeClr val="bg1"/>
                </a:solidFill>
                <a:cs typeface="Calibri"/>
              </a:rPr>
              <a:t>Pradip Raut</a:t>
            </a:r>
          </a:p>
          <a:p>
            <a:endParaRPr lang="en-US" sz="2800" dirty="0">
              <a:cs typeface="Calibri"/>
            </a:endParaRPr>
          </a:p>
        </p:txBody>
      </p:sp>
      <p:sp>
        <p:nvSpPr>
          <p:cNvPr id="5" name="TextBox 4">
            <a:extLst>
              <a:ext uri="{FF2B5EF4-FFF2-40B4-BE49-F238E27FC236}">
                <a16:creationId xmlns:a16="http://schemas.microsoft.com/office/drawing/2014/main" id="{7DFB3A8B-00D6-0E30-98D3-97AD22BDF3B2}"/>
              </a:ext>
            </a:extLst>
          </p:cNvPr>
          <p:cNvSpPr txBox="1"/>
          <p:nvPr/>
        </p:nvSpPr>
        <p:spPr>
          <a:xfrm>
            <a:off x="4534681" y="6088224"/>
            <a:ext cx="559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 name="TextBox 7">
            <a:extLst>
              <a:ext uri="{FF2B5EF4-FFF2-40B4-BE49-F238E27FC236}">
                <a16:creationId xmlns:a16="http://schemas.microsoft.com/office/drawing/2014/main" id="{540C894B-5053-58DD-3FA8-71C48DC92FE4}"/>
              </a:ext>
            </a:extLst>
          </p:cNvPr>
          <p:cNvSpPr txBox="1"/>
          <p:nvPr/>
        </p:nvSpPr>
        <p:spPr>
          <a:xfrm>
            <a:off x="0" y="5266635"/>
            <a:ext cx="377566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accent2">
                    <a:lumMod val="75000"/>
                  </a:schemeClr>
                </a:solidFill>
                <a:cs typeface="Calibri"/>
              </a:rPr>
              <a:t>Online Doctor Appointment System</a:t>
            </a:r>
            <a:endParaRPr lang="en-US" sz="4000" b="1" dirty="0">
              <a:solidFill>
                <a:schemeClr val="accent2">
                  <a:lumMod val="75000"/>
                </a:schemeClr>
              </a:solidFill>
            </a:endParaRPr>
          </a:p>
        </p:txBody>
      </p:sp>
      <p:sp>
        <p:nvSpPr>
          <p:cNvPr id="9" name="TextBox 8">
            <a:extLst>
              <a:ext uri="{FF2B5EF4-FFF2-40B4-BE49-F238E27FC236}">
                <a16:creationId xmlns:a16="http://schemas.microsoft.com/office/drawing/2014/main" id="{70D8E05C-267D-DBBB-AB37-5EA41F5C20A9}"/>
              </a:ext>
            </a:extLst>
          </p:cNvPr>
          <p:cNvSpPr txBox="1"/>
          <p:nvPr/>
        </p:nvSpPr>
        <p:spPr>
          <a:xfrm>
            <a:off x="882431" y="7860558"/>
            <a:ext cx="3192028"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cs typeface="Calibri"/>
              </a:rPr>
              <a:t>Project </a:t>
            </a:r>
            <a:r>
              <a:rPr lang="en-US" sz="2800" b="1" dirty="0" err="1">
                <a:cs typeface="Calibri"/>
              </a:rPr>
              <a:t>Supervisor:Iftikhar</a:t>
            </a:r>
            <a:r>
              <a:rPr lang="en-US" sz="2800" b="1" dirty="0">
                <a:cs typeface="Calibri"/>
              </a:rPr>
              <a:t> Afridi</a:t>
            </a:r>
          </a:p>
        </p:txBody>
      </p:sp>
      <p:sp>
        <p:nvSpPr>
          <p:cNvPr id="10" name="TextBox 9">
            <a:extLst>
              <a:ext uri="{FF2B5EF4-FFF2-40B4-BE49-F238E27FC236}">
                <a16:creationId xmlns:a16="http://schemas.microsoft.com/office/drawing/2014/main" id="{3D5A56D2-A362-F698-9E87-8A068CA0AED7}"/>
              </a:ext>
            </a:extLst>
          </p:cNvPr>
          <p:cNvSpPr txBox="1"/>
          <p:nvPr/>
        </p:nvSpPr>
        <p:spPr>
          <a:xfrm>
            <a:off x="35629" y="1780"/>
            <a:ext cx="10476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3C17AB04-06EB-4DCE-3FA9-6A3FD25DA22B}"/>
              </a:ext>
            </a:extLst>
          </p:cNvPr>
          <p:cNvSpPr txBox="1"/>
          <p:nvPr/>
        </p:nvSpPr>
        <p:spPr>
          <a:xfrm>
            <a:off x="6121206" y="-96487"/>
            <a:ext cx="7328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b="1" dirty="0">
                <a:solidFill>
                  <a:schemeClr val="tx1">
                    <a:lumMod val="50000"/>
                    <a:lumOff val="50000"/>
                  </a:schemeClr>
                </a:solidFill>
                <a:cs typeface="Calibri"/>
              </a:rPr>
              <a:t>QA</a:t>
            </a:r>
            <a:endParaRPr lang="en-US" sz="3200" b="1" dirty="0">
              <a:solidFill>
                <a:schemeClr val="tx1">
                  <a:lumMod val="50000"/>
                  <a:lumOff val="50000"/>
                </a:schemeClr>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17F94-416F-7760-3A40-F3004E646A37}"/>
              </a:ext>
            </a:extLst>
          </p:cNvPr>
          <p:cNvSpPr>
            <a:spLocks noGrp="1"/>
          </p:cNvSpPr>
          <p:nvPr>
            <p:ph type="title"/>
          </p:nvPr>
        </p:nvSpPr>
        <p:spPr>
          <a:xfrm>
            <a:off x="0" y="0"/>
            <a:ext cx="6858000" cy="1025630"/>
          </a:xfrm>
          <a:solidFill>
            <a:schemeClr val="accent2"/>
          </a:solidFill>
        </p:spPr>
        <p:txBody>
          <a:bodyPr/>
          <a:lstStyle/>
          <a:p>
            <a:r>
              <a:rPr lang="en-US" b="1" dirty="0">
                <a:cs typeface="Calibri Light"/>
              </a:rPr>
              <a:t>                ABSTRACT</a:t>
            </a:r>
            <a:endParaRPr lang="en-US" b="1" dirty="0"/>
          </a:p>
        </p:txBody>
      </p:sp>
      <p:sp>
        <p:nvSpPr>
          <p:cNvPr id="3" name="Content Placeholder 2">
            <a:extLst>
              <a:ext uri="{FF2B5EF4-FFF2-40B4-BE49-F238E27FC236}">
                <a16:creationId xmlns:a16="http://schemas.microsoft.com/office/drawing/2014/main" id="{89113BB4-9C1C-6890-39AA-AD46577E8C15}"/>
              </a:ext>
            </a:extLst>
          </p:cNvPr>
          <p:cNvSpPr>
            <a:spLocks noGrp="1"/>
          </p:cNvSpPr>
          <p:nvPr>
            <p:ph idx="1"/>
          </p:nvPr>
        </p:nvSpPr>
        <p:spPr>
          <a:xfrm>
            <a:off x="471492" y="1569493"/>
            <a:ext cx="5915025" cy="7985991"/>
          </a:xfrm>
        </p:spPr>
        <p:txBody>
          <a:bodyPr vert="horz" lIns="91440" tIns="45720" rIns="91440" bIns="45720" rtlCol="0" anchor="t">
            <a:noAutofit/>
          </a:bodyPr>
          <a:lstStyle/>
          <a:p>
            <a:pPr marL="0" indent="0">
              <a:buNone/>
            </a:pPr>
            <a:r>
              <a:rPr lang="en-US" dirty="0">
                <a:ea typeface="+mn-lt"/>
                <a:cs typeface="+mn-lt"/>
              </a:rPr>
              <a:t>In the verge of Pandemic, it was big problem to visit hospital for doctor’s counseling session. The purpose of Online Doctor Appointment system is to have managing of different appointments through the help of web. This system offers different counseling and recommendation through doctor and helps requesting an appointment through patient. This system is an example of remote medicine. Online Doctor Appointment system is GUI friendly, easy to use for anyone and secure for everyone. This system is time saving as well as gives transparency between doctors and patients. It allows an interaction between admin, doctor and patient. Basically, is usable for different aspects of healthcare system</a:t>
            </a:r>
            <a:endParaRPr lang="en-US" dirty="0">
              <a:cs typeface="Calibri" panose="020F0502020204030204"/>
            </a:endParaRPr>
          </a:p>
        </p:txBody>
      </p:sp>
      <p:sp>
        <p:nvSpPr>
          <p:cNvPr id="4" name="Slide Number Placeholder 3"/>
          <p:cNvSpPr>
            <a:spLocks noGrp="1"/>
          </p:cNvSpPr>
          <p:nvPr>
            <p:ph type="sldNum" sz="quarter" idx="12"/>
          </p:nvPr>
        </p:nvSpPr>
        <p:spPr/>
        <p:txBody>
          <a:bodyPr/>
          <a:lstStyle/>
          <a:p>
            <a:fld id="{48F63A3B-78C7-47BE-AE5E-E10140E04643}" type="slidenum">
              <a:rPr lang="en-US" smtClean="0"/>
              <a:t>2</a:t>
            </a:fld>
            <a:endParaRPr lang="en-US" dirty="0"/>
          </a:p>
        </p:txBody>
      </p:sp>
    </p:spTree>
    <p:extLst>
      <p:ext uri="{BB962C8B-B14F-4D97-AF65-F5344CB8AC3E}">
        <p14:creationId xmlns:p14="http://schemas.microsoft.com/office/powerpoint/2010/main" val="633187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5CF18-3F2D-CBD9-F775-F76BA69D3354}"/>
              </a:ext>
            </a:extLst>
          </p:cNvPr>
          <p:cNvSpPr>
            <a:spLocks noGrp="1"/>
          </p:cNvSpPr>
          <p:nvPr>
            <p:ph type="title"/>
          </p:nvPr>
        </p:nvSpPr>
        <p:spPr>
          <a:xfrm>
            <a:off x="0" y="0"/>
            <a:ext cx="6858000" cy="1272694"/>
          </a:xfrm>
          <a:solidFill>
            <a:schemeClr val="accent2"/>
          </a:solidFill>
        </p:spPr>
        <p:txBody>
          <a:bodyPr/>
          <a:lstStyle/>
          <a:p>
            <a:r>
              <a:rPr lang="en-US" dirty="0">
                <a:cs typeface="Calibri Light"/>
              </a:rPr>
              <a:t>       </a:t>
            </a:r>
            <a:r>
              <a:rPr lang="en-US" b="1" dirty="0">
                <a:cs typeface="Calibri Light"/>
              </a:rPr>
              <a:t>ACKNOWLEDGEMENT</a:t>
            </a:r>
            <a:endParaRPr lang="en-US" b="1" dirty="0"/>
          </a:p>
        </p:txBody>
      </p:sp>
      <p:sp>
        <p:nvSpPr>
          <p:cNvPr id="3" name="Content Placeholder 2">
            <a:extLst>
              <a:ext uri="{FF2B5EF4-FFF2-40B4-BE49-F238E27FC236}">
                <a16:creationId xmlns:a16="http://schemas.microsoft.com/office/drawing/2014/main" id="{B1451A4D-FEE0-1A07-0C1B-1CB3990C459E}"/>
              </a:ext>
            </a:extLst>
          </p:cNvPr>
          <p:cNvSpPr>
            <a:spLocks noGrp="1"/>
          </p:cNvSpPr>
          <p:nvPr>
            <p:ph idx="1"/>
          </p:nvPr>
        </p:nvSpPr>
        <p:spPr>
          <a:xfrm>
            <a:off x="471492" y="2033517"/>
            <a:ext cx="5915025" cy="7872484"/>
          </a:xfrm>
        </p:spPr>
        <p:txBody>
          <a:bodyPr vert="horz" lIns="91440" tIns="45720" rIns="91440" bIns="45720" rtlCol="0" anchor="t">
            <a:noAutofit/>
          </a:bodyPr>
          <a:lstStyle/>
          <a:p>
            <a:pPr marL="0" indent="0">
              <a:buNone/>
            </a:pPr>
            <a:r>
              <a:rPr lang="en-US" dirty="0">
                <a:ea typeface="+mn-lt"/>
                <a:cs typeface="+mn-lt"/>
              </a:rPr>
              <a:t>It is a tremendous honor to be able to express our deepest appreciation to everyone who assisted us. We would like to convey our gratefulness towards </a:t>
            </a:r>
            <a:r>
              <a:rPr lang="en-US" dirty="0" err="1">
                <a:ea typeface="+mn-lt"/>
                <a:cs typeface="+mn-lt"/>
              </a:rPr>
              <a:t>Mr.Iftikhar</a:t>
            </a:r>
            <a:r>
              <a:rPr lang="en-US" dirty="0">
                <a:ea typeface="+mn-lt"/>
                <a:cs typeface="+mn-lt"/>
              </a:rPr>
              <a:t> Afridi  who helped us complete this report for his expert guidance, ever willingness to spare time from his busy schedule for the document’s reviews. His continuous inspiration has made us achieve the target. </a:t>
            </a:r>
          </a:p>
          <a:p>
            <a:pPr marL="0" indent="0">
              <a:buNone/>
            </a:pPr>
            <a:r>
              <a:rPr lang="en-US" dirty="0">
                <a:ea typeface="+mn-lt"/>
                <a:cs typeface="+mn-lt"/>
              </a:rPr>
              <a:t>We would also like to extend our heartfelt gratitude for the faculty of Computing engineering and ,   for this occasion. We'd like to express our gratitude to our friends and colleagues for their tireless efforts in completing the project </a:t>
            </a:r>
            <a:endParaRPr lang="en-US" dirty="0">
              <a:cs typeface="Calibri" panose="020F0502020204030204"/>
            </a:endParaRPr>
          </a:p>
        </p:txBody>
      </p:sp>
      <p:sp>
        <p:nvSpPr>
          <p:cNvPr id="4" name="Slide Number Placeholder 3"/>
          <p:cNvSpPr>
            <a:spLocks noGrp="1"/>
          </p:cNvSpPr>
          <p:nvPr>
            <p:ph type="sldNum" sz="quarter" idx="12"/>
          </p:nvPr>
        </p:nvSpPr>
        <p:spPr/>
        <p:txBody>
          <a:bodyPr/>
          <a:lstStyle/>
          <a:p>
            <a:fld id="{48F63A3B-78C7-47BE-AE5E-E10140E04643}" type="slidenum">
              <a:rPr lang="en-US" smtClean="0"/>
              <a:t>3</a:t>
            </a:fld>
            <a:endParaRPr lang="en-US" dirty="0"/>
          </a:p>
        </p:txBody>
      </p:sp>
    </p:spTree>
    <p:extLst>
      <p:ext uri="{BB962C8B-B14F-4D97-AF65-F5344CB8AC3E}">
        <p14:creationId xmlns:p14="http://schemas.microsoft.com/office/powerpoint/2010/main" val="2817825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39104-031F-5296-540A-33C66540F268}"/>
              </a:ext>
            </a:extLst>
          </p:cNvPr>
          <p:cNvSpPr>
            <a:spLocks noGrp="1"/>
          </p:cNvSpPr>
          <p:nvPr>
            <p:ph type="title"/>
          </p:nvPr>
        </p:nvSpPr>
        <p:spPr>
          <a:xfrm>
            <a:off x="0" y="0"/>
            <a:ext cx="6858000" cy="1110326"/>
          </a:xfrm>
          <a:solidFill>
            <a:schemeClr val="accent2"/>
          </a:solidFill>
        </p:spPr>
        <p:txBody>
          <a:bodyPr/>
          <a:lstStyle/>
          <a:p>
            <a:r>
              <a:rPr lang="en-US" dirty="0">
                <a:cs typeface="Calibri Light"/>
              </a:rPr>
              <a:t>    </a:t>
            </a:r>
            <a:r>
              <a:rPr lang="en-US" b="1" dirty="0">
                <a:cs typeface="Calibri Light"/>
              </a:rPr>
              <a:t>       INTRODUCTION</a:t>
            </a:r>
            <a:endParaRPr lang="en-US" b="1" dirty="0"/>
          </a:p>
        </p:txBody>
      </p:sp>
      <p:sp>
        <p:nvSpPr>
          <p:cNvPr id="3" name="Content Placeholder 2">
            <a:extLst>
              <a:ext uri="{FF2B5EF4-FFF2-40B4-BE49-F238E27FC236}">
                <a16:creationId xmlns:a16="http://schemas.microsoft.com/office/drawing/2014/main" id="{0083EA54-0C2D-72E8-9821-52E5D5409604}"/>
              </a:ext>
            </a:extLst>
          </p:cNvPr>
          <p:cNvSpPr>
            <a:spLocks noGrp="1"/>
          </p:cNvSpPr>
          <p:nvPr>
            <p:ph idx="1"/>
          </p:nvPr>
        </p:nvSpPr>
        <p:spPr>
          <a:xfrm>
            <a:off x="471492" y="2637017"/>
            <a:ext cx="5915025" cy="7093837"/>
          </a:xfrm>
        </p:spPr>
        <p:txBody>
          <a:bodyPr vert="horz" lIns="91440" tIns="45720" rIns="91440" bIns="45720" rtlCol="0" anchor="t">
            <a:normAutofit lnSpcReduction="10000"/>
          </a:bodyPr>
          <a:lstStyle/>
          <a:p>
            <a:pPr marL="0" indent="0">
              <a:buNone/>
            </a:pPr>
            <a:r>
              <a:rPr lang="en-US" sz="1600" dirty="0">
                <a:cs typeface="Calibri"/>
              </a:rPr>
              <a:t>                                      </a:t>
            </a:r>
            <a:r>
              <a:rPr lang="en-US" sz="3000" b="1" dirty="0">
                <a:solidFill>
                  <a:schemeClr val="accent2"/>
                </a:solidFill>
                <a:cs typeface="Calibri"/>
              </a:rPr>
              <a:t>Background</a:t>
            </a:r>
          </a:p>
          <a:p>
            <a:pPr marL="0" indent="0">
              <a:buNone/>
            </a:pPr>
            <a:endParaRPr lang="en-US" dirty="0">
              <a:cs typeface="Calibri"/>
            </a:endParaRPr>
          </a:p>
          <a:p>
            <a:pPr marL="0" indent="0">
              <a:buNone/>
            </a:pPr>
            <a:r>
              <a:rPr lang="en-US" dirty="0">
                <a:cs typeface="Calibri"/>
              </a:rPr>
              <a:t>Online doctor appointment system is the system where a patient can ask for the treatments through the home. In the verge of COVID-19 Pandemic, this system is useful for everyone in the home. This system manages the appointment requested by the patient through the help of website. Patient can give different symptoms to the system in the form of message and request for the doctor. This system can be used by anyone and patient can give different complications. This system helps for the remote patients where doctor is unavailable.</a:t>
            </a:r>
          </a:p>
          <a:p>
            <a:pPr marL="0" indent="0">
              <a:buNone/>
            </a:pPr>
            <a:r>
              <a:rPr lang="en-US" dirty="0">
                <a:cs typeface="Calibri"/>
              </a:rPr>
              <a:t> </a:t>
            </a:r>
          </a:p>
        </p:txBody>
      </p:sp>
      <p:sp>
        <p:nvSpPr>
          <p:cNvPr id="4" name="Slide Number Placeholder 3"/>
          <p:cNvSpPr>
            <a:spLocks noGrp="1"/>
          </p:cNvSpPr>
          <p:nvPr>
            <p:ph type="sldNum" sz="quarter" idx="12"/>
          </p:nvPr>
        </p:nvSpPr>
        <p:spPr/>
        <p:txBody>
          <a:bodyPr/>
          <a:lstStyle/>
          <a:p>
            <a:fld id="{48F63A3B-78C7-47BE-AE5E-E10140E04643}" type="slidenum">
              <a:rPr lang="en-US" smtClean="0"/>
              <a:t>4</a:t>
            </a:fld>
            <a:endParaRPr lang="en-US" dirty="0"/>
          </a:p>
        </p:txBody>
      </p:sp>
    </p:spTree>
    <p:extLst>
      <p:ext uri="{BB962C8B-B14F-4D97-AF65-F5344CB8AC3E}">
        <p14:creationId xmlns:p14="http://schemas.microsoft.com/office/powerpoint/2010/main" val="465419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029946-2080-BF2D-A9A1-0072130BD632}"/>
              </a:ext>
            </a:extLst>
          </p:cNvPr>
          <p:cNvSpPr>
            <a:spLocks noGrp="1"/>
          </p:cNvSpPr>
          <p:nvPr>
            <p:ph idx="1"/>
          </p:nvPr>
        </p:nvSpPr>
        <p:spPr>
          <a:xfrm>
            <a:off x="400054" y="66668"/>
            <a:ext cx="5915025" cy="7589726"/>
          </a:xfrm>
        </p:spPr>
        <p:txBody>
          <a:bodyPr vert="horz" lIns="91440" tIns="45720" rIns="91440" bIns="45720" rtlCol="0" anchor="t">
            <a:normAutofit lnSpcReduction="10000"/>
          </a:bodyPr>
          <a:lstStyle/>
          <a:p>
            <a:pPr marL="0" indent="0">
              <a:buNone/>
            </a:pPr>
            <a:r>
              <a:rPr lang="en-US" sz="2000" b="1" dirty="0">
                <a:ea typeface="+mn-lt"/>
                <a:cs typeface="+mn-lt"/>
              </a:rPr>
              <a:t>                      </a:t>
            </a:r>
            <a:r>
              <a:rPr lang="en-US" sz="3000" b="1" dirty="0">
                <a:solidFill>
                  <a:schemeClr val="accent2"/>
                </a:solidFill>
                <a:ea typeface="+mn-lt"/>
                <a:cs typeface="+mn-lt"/>
              </a:rPr>
              <a:t>Project Objectives</a:t>
            </a:r>
          </a:p>
          <a:p>
            <a:pPr marL="0" indent="0">
              <a:buNone/>
            </a:pPr>
            <a:endParaRPr lang="en-US" sz="4000" dirty="0">
              <a:solidFill>
                <a:schemeClr val="accent2"/>
              </a:solidFill>
              <a:ea typeface="+mn-lt"/>
              <a:cs typeface="+mn-lt"/>
            </a:endParaRPr>
          </a:p>
          <a:p>
            <a:pPr marL="0" indent="0">
              <a:buNone/>
            </a:pPr>
            <a:r>
              <a:rPr lang="en-US" dirty="0">
                <a:ea typeface="+mn-lt"/>
                <a:cs typeface="+mn-lt"/>
              </a:rPr>
              <a:t>The primary objectives of the project is: -</a:t>
            </a:r>
          </a:p>
          <a:p>
            <a:pPr marL="0" indent="0">
              <a:buNone/>
            </a:pPr>
            <a:r>
              <a:rPr lang="en-US" dirty="0">
                <a:ea typeface="+mn-lt"/>
                <a:cs typeface="+mn-lt"/>
              </a:rPr>
              <a:t>-To build the web-based application which manages appointment in the front-end section and store data in the back-end section, and have analysis and design for the Online doctor appointment system.</a:t>
            </a:r>
            <a:endParaRPr lang="en-US" dirty="0"/>
          </a:p>
          <a:p>
            <a:pPr marL="0" indent="0">
              <a:buNone/>
            </a:pPr>
            <a:r>
              <a:rPr lang="en-US" dirty="0">
                <a:ea typeface="+mn-lt"/>
                <a:cs typeface="+mn-lt"/>
              </a:rPr>
              <a:t> Secondary objectives are: </a:t>
            </a:r>
          </a:p>
          <a:p>
            <a:pPr marL="0" indent="0">
              <a:buNone/>
            </a:pPr>
            <a:r>
              <a:rPr lang="en-US" dirty="0">
                <a:ea typeface="+mn-lt"/>
                <a:cs typeface="+mn-lt"/>
              </a:rPr>
              <a:t>- To check the previous appointment history and medical records.</a:t>
            </a:r>
          </a:p>
          <a:p>
            <a:pPr marL="0" indent="0">
              <a:buNone/>
            </a:pPr>
            <a:r>
              <a:rPr lang="en-US" dirty="0">
                <a:ea typeface="+mn-lt"/>
                <a:cs typeface="+mn-lt"/>
              </a:rPr>
              <a:t> - To have uplift the healthcare system through the help of E-medicine. </a:t>
            </a:r>
          </a:p>
          <a:p>
            <a:pPr marL="0" indent="0">
              <a:buNone/>
            </a:pPr>
            <a:r>
              <a:rPr lang="en-US" dirty="0">
                <a:ea typeface="+mn-lt"/>
                <a:cs typeface="+mn-lt"/>
              </a:rPr>
              <a:t>- To get information of the patient and doctor as well as information real time availability of doctor.</a:t>
            </a:r>
            <a:endParaRPr lang="en-US" dirty="0">
              <a:cs typeface="Calibri"/>
            </a:endParaRPr>
          </a:p>
        </p:txBody>
      </p:sp>
      <p:sp>
        <p:nvSpPr>
          <p:cNvPr id="2" name="Slide Number Placeholder 1"/>
          <p:cNvSpPr>
            <a:spLocks noGrp="1"/>
          </p:cNvSpPr>
          <p:nvPr>
            <p:ph type="sldNum" sz="quarter" idx="12"/>
          </p:nvPr>
        </p:nvSpPr>
        <p:spPr/>
        <p:txBody>
          <a:bodyPr/>
          <a:lstStyle/>
          <a:p>
            <a:fld id="{48F63A3B-78C7-47BE-AE5E-E10140E04643}" type="slidenum">
              <a:rPr lang="en-US" smtClean="0"/>
              <a:t>5</a:t>
            </a:fld>
            <a:endParaRPr lang="en-US" dirty="0"/>
          </a:p>
        </p:txBody>
      </p:sp>
    </p:spTree>
    <p:extLst>
      <p:ext uri="{BB962C8B-B14F-4D97-AF65-F5344CB8AC3E}">
        <p14:creationId xmlns:p14="http://schemas.microsoft.com/office/powerpoint/2010/main" val="1290638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76B43-A637-7ACA-2B72-8D22A6B90BF8}"/>
              </a:ext>
            </a:extLst>
          </p:cNvPr>
          <p:cNvSpPr>
            <a:spLocks noGrp="1"/>
          </p:cNvSpPr>
          <p:nvPr>
            <p:ph type="title"/>
          </p:nvPr>
        </p:nvSpPr>
        <p:spPr>
          <a:xfrm>
            <a:off x="0" y="26198"/>
            <a:ext cx="6857999" cy="1192213"/>
          </a:xfrm>
          <a:solidFill>
            <a:schemeClr val="accent2"/>
          </a:solidFill>
        </p:spPr>
        <p:txBody>
          <a:bodyPr/>
          <a:lstStyle/>
          <a:p>
            <a:r>
              <a:rPr lang="en-US" dirty="0">
                <a:cs typeface="Calibri Light"/>
              </a:rPr>
              <a:t>       </a:t>
            </a:r>
            <a:r>
              <a:rPr lang="en-US" b="1" dirty="0">
                <a:cs typeface="Calibri Light"/>
              </a:rPr>
              <a:t>LITERATURE REVIEW</a:t>
            </a:r>
            <a:endParaRPr lang="en-US" b="1" dirty="0"/>
          </a:p>
        </p:txBody>
      </p:sp>
      <p:sp>
        <p:nvSpPr>
          <p:cNvPr id="3" name="Content Placeholder 2">
            <a:extLst>
              <a:ext uri="{FF2B5EF4-FFF2-40B4-BE49-F238E27FC236}">
                <a16:creationId xmlns:a16="http://schemas.microsoft.com/office/drawing/2014/main" id="{E614F582-2689-AA0D-D8FA-5EE4EAAF8B22}"/>
              </a:ext>
            </a:extLst>
          </p:cNvPr>
          <p:cNvSpPr>
            <a:spLocks noGrp="1"/>
          </p:cNvSpPr>
          <p:nvPr>
            <p:ph idx="1"/>
          </p:nvPr>
        </p:nvSpPr>
        <p:spPr>
          <a:xfrm>
            <a:off x="373801" y="1909417"/>
            <a:ext cx="6171360" cy="7017974"/>
          </a:xfrm>
        </p:spPr>
        <p:txBody>
          <a:bodyPr vert="horz" lIns="91440" tIns="45720" rIns="91440" bIns="45720" rtlCol="0" anchor="t">
            <a:normAutofit fontScale="55000" lnSpcReduction="20000"/>
          </a:bodyPr>
          <a:lstStyle/>
          <a:p>
            <a:pPr marL="0" indent="0">
              <a:buNone/>
            </a:pPr>
            <a:r>
              <a:rPr lang="en-US" dirty="0">
                <a:cs typeface="Calibri"/>
              </a:rPr>
              <a:t>    </a:t>
            </a:r>
            <a:r>
              <a:rPr lang="en-US" b="1" dirty="0">
                <a:cs typeface="Calibri"/>
              </a:rPr>
              <a:t>                 </a:t>
            </a:r>
            <a:r>
              <a:rPr lang="en-US" sz="5500" b="1" dirty="0">
                <a:solidFill>
                  <a:schemeClr val="accent2"/>
                </a:solidFill>
                <a:cs typeface="Calibri"/>
              </a:rPr>
              <a:t>Technical Background</a:t>
            </a:r>
          </a:p>
          <a:p>
            <a:pPr marL="0" indent="0">
              <a:buNone/>
            </a:pPr>
            <a:endParaRPr lang="en-US" u="sng" dirty="0"/>
          </a:p>
          <a:p>
            <a:pPr marL="0" indent="0">
              <a:buNone/>
            </a:pPr>
            <a:endParaRPr lang="en-US" sz="4000" b="1" u="sng" dirty="0"/>
          </a:p>
          <a:p>
            <a:pPr>
              <a:buNone/>
            </a:pPr>
            <a:r>
              <a:rPr lang="en-US" sz="4500" b="1" dirty="0"/>
              <a:t>Hardware and Software resources</a:t>
            </a:r>
            <a:endParaRPr lang="en-US" sz="4500" b="1" dirty="0">
              <a:cs typeface="Calibri"/>
            </a:endParaRPr>
          </a:p>
          <a:p>
            <a:pPr>
              <a:buNone/>
            </a:pPr>
            <a:endParaRPr lang="en-US" sz="4500" dirty="0"/>
          </a:p>
          <a:p>
            <a:pPr>
              <a:buNone/>
            </a:pPr>
            <a:r>
              <a:rPr lang="en-US" sz="4500" dirty="0"/>
              <a:t> </a:t>
            </a:r>
            <a:r>
              <a:rPr lang="en-US" sz="4500" b="1" dirty="0"/>
              <a:t>Hardware:</a:t>
            </a:r>
            <a:endParaRPr lang="en-US" sz="4500" b="1" dirty="0">
              <a:cs typeface="Calibri"/>
            </a:endParaRPr>
          </a:p>
          <a:p>
            <a:pPr>
              <a:buFont typeface="Arial"/>
              <a:buChar char="•"/>
            </a:pPr>
            <a:r>
              <a:rPr lang="en-US" sz="4500" dirty="0">
                <a:ea typeface="+mn-lt"/>
                <a:cs typeface="+mn-lt"/>
              </a:rPr>
              <a:t>Windows 7 or higher</a:t>
            </a:r>
            <a:endParaRPr lang="en-US" sz="4500" dirty="0">
              <a:cs typeface="Calibri"/>
            </a:endParaRPr>
          </a:p>
          <a:p>
            <a:pPr>
              <a:buFont typeface="Arial"/>
              <a:buChar char="•"/>
            </a:pPr>
            <a:r>
              <a:rPr lang="en-US" sz="4500" dirty="0">
                <a:ea typeface="+mn-lt"/>
                <a:cs typeface="+mn-lt"/>
              </a:rPr>
              <a:t>I3 processor system or higher</a:t>
            </a:r>
            <a:endParaRPr lang="en-US" sz="4500" dirty="0">
              <a:cs typeface="Calibri"/>
            </a:endParaRPr>
          </a:p>
          <a:p>
            <a:pPr>
              <a:buFont typeface="Arial"/>
              <a:buChar char="•"/>
            </a:pPr>
            <a:r>
              <a:rPr lang="en-US" sz="4500" dirty="0">
                <a:ea typeface="+mn-lt"/>
                <a:cs typeface="+mn-lt"/>
              </a:rPr>
              <a:t>4 GB RAM or higher</a:t>
            </a:r>
            <a:endParaRPr lang="en-US" sz="4500" dirty="0">
              <a:cs typeface="Calibri"/>
            </a:endParaRPr>
          </a:p>
          <a:p>
            <a:pPr>
              <a:buFont typeface="Arial"/>
              <a:buChar char="•"/>
            </a:pPr>
            <a:r>
              <a:rPr lang="en-US" sz="4500" dirty="0">
                <a:ea typeface="+mn-lt"/>
                <a:cs typeface="+mn-lt"/>
              </a:rPr>
              <a:t>100 GB ROM or higher</a:t>
            </a:r>
            <a:endParaRPr lang="en-US" sz="4500" dirty="0"/>
          </a:p>
          <a:p>
            <a:pPr indent="0">
              <a:buNone/>
            </a:pPr>
            <a:endParaRPr lang="en-US" sz="4500" dirty="0"/>
          </a:p>
          <a:p>
            <a:pPr>
              <a:buNone/>
            </a:pPr>
            <a:r>
              <a:rPr lang="en-US" sz="4500" b="1" dirty="0"/>
              <a:t>Software:</a:t>
            </a:r>
            <a:endParaRPr lang="en-US" sz="4500" b="1" dirty="0">
              <a:cs typeface="Calibri"/>
            </a:endParaRPr>
          </a:p>
          <a:p>
            <a:pPr>
              <a:buFont typeface="Arial"/>
              <a:buChar char="•"/>
            </a:pPr>
            <a:r>
              <a:rPr lang="en-US" sz="4500" dirty="0">
                <a:ea typeface="+mn-lt"/>
                <a:cs typeface="+mn-lt"/>
              </a:rPr>
              <a:t>Laptop or PC</a:t>
            </a:r>
            <a:endParaRPr lang="en-US" sz="4500" dirty="0">
              <a:cs typeface="Calibri"/>
            </a:endParaRPr>
          </a:p>
          <a:p>
            <a:pPr>
              <a:buFont typeface="Arial"/>
              <a:buChar char="•"/>
            </a:pPr>
            <a:r>
              <a:rPr lang="en-US" sz="4500" dirty="0">
                <a:ea typeface="+mn-lt"/>
                <a:cs typeface="+mn-lt"/>
              </a:rPr>
              <a:t>Python/Django</a:t>
            </a:r>
            <a:endParaRPr lang="en-US" sz="4500" dirty="0">
              <a:cs typeface="Calibri"/>
            </a:endParaRPr>
          </a:p>
          <a:p>
            <a:pPr>
              <a:buFont typeface="Arial"/>
              <a:buChar char="•"/>
            </a:pPr>
            <a:r>
              <a:rPr lang="en-US" sz="4500" dirty="0">
                <a:ea typeface="+mn-lt"/>
                <a:cs typeface="+mn-lt"/>
              </a:rPr>
              <a:t>HTML/CSS</a:t>
            </a:r>
            <a:endParaRPr lang="en-US" sz="4500" dirty="0">
              <a:cs typeface="Calibri"/>
            </a:endParaRPr>
          </a:p>
          <a:p>
            <a:pPr>
              <a:buFont typeface="Arial"/>
              <a:buChar char="•"/>
            </a:pPr>
            <a:r>
              <a:rPr lang="en-US" sz="4500" dirty="0">
                <a:ea typeface="+mn-lt"/>
                <a:cs typeface="+mn-lt"/>
              </a:rPr>
              <a:t>Sublime Text Editor</a:t>
            </a:r>
            <a:endParaRPr lang="en-US" sz="4500" dirty="0">
              <a:cs typeface="Calibri"/>
            </a:endParaRPr>
          </a:p>
          <a:p>
            <a:pPr>
              <a:buFont typeface="Arial"/>
              <a:buChar char="•"/>
            </a:pPr>
            <a:r>
              <a:rPr lang="en-US" sz="4500" dirty="0">
                <a:ea typeface="+mn-lt"/>
                <a:cs typeface="+mn-lt"/>
              </a:rPr>
              <a:t>XAMP Server</a:t>
            </a:r>
            <a:endParaRPr lang="en-US" sz="4500" dirty="0"/>
          </a:p>
          <a:p>
            <a:pPr marL="0" indent="0">
              <a:buNone/>
            </a:pPr>
            <a:endParaRPr lang="en-US" dirty="0">
              <a:cs typeface="Calibri"/>
            </a:endParaRPr>
          </a:p>
          <a:p>
            <a:pPr marL="0" indent="0">
              <a:buNone/>
            </a:pPr>
            <a:endParaRPr lang="en-US" dirty="0">
              <a:cs typeface="Calibri"/>
            </a:endParaRPr>
          </a:p>
        </p:txBody>
      </p:sp>
      <p:sp>
        <p:nvSpPr>
          <p:cNvPr id="4" name="Slide Number Placeholder 3"/>
          <p:cNvSpPr>
            <a:spLocks noGrp="1"/>
          </p:cNvSpPr>
          <p:nvPr>
            <p:ph type="sldNum" sz="quarter" idx="12"/>
          </p:nvPr>
        </p:nvSpPr>
        <p:spPr/>
        <p:txBody>
          <a:bodyPr/>
          <a:lstStyle/>
          <a:p>
            <a:fld id="{48F63A3B-78C7-47BE-AE5E-E10140E04643}" type="slidenum">
              <a:rPr lang="en-US" smtClean="0"/>
              <a:t>6</a:t>
            </a:fld>
            <a:endParaRPr lang="en-US" dirty="0"/>
          </a:p>
        </p:txBody>
      </p:sp>
    </p:spTree>
    <p:extLst>
      <p:ext uri="{BB962C8B-B14F-4D97-AF65-F5344CB8AC3E}">
        <p14:creationId xmlns:p14="http://schemas.microsoft.com/office/powerpoint/2010/main" val="1450763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1EF01-A61F-85C4-E6FC-7DC226E020FC}"/>
              </a:ext>
            </a:extLst>
          </p:cNvPr>
          <p:cNvSpPr>
            <a:spLocks noGrp="1"/>
          </p:cNvSpPr>
          <p:nvPr>
            <p:ph idx="1"/>
          </p:nvPr>
        </p:nvSpPr>
        <p:spPr>
          <a:xfrm>
            <a:off x="256702" y="350524"/>
            <a:ext cx="5915025" cy="6391470"/>
          </a:xfrm>
        </p:spPr>
        <p:txBody>
          <a:bodyPr vert="horz" lIns="91440" tIns="45720" rIns="91440" bIns="45720" rtlCol="0" anchor="t">
            <a:normAutofit/>
          </a:bodyPr>
          <a:lstStyle/>
          <a:p>
            <a:pPr marL="0" indent="0">
              <a:buNone/>
            </a:pPr>
            <a:r>
              <a:rPr lang="en-US" dirty="0">
                <a:cs typeface="Calibri"/>
              </a:rPr>
              <a:t> </a:t>
            </a:r>
            <a:r>
              <a:rPr lang="en-US" b="1" dirty="0">
                <a:cs typeface="Calibri"/>
              </a:rPr>
              <a:t>        </a:t>
            </a:r>
            <a:r>
              <a:rPr lang="en-US" sz="3000" b="1" dirty="0">
                <a:solidFill>
                  <a:schemeClr val="accent2"/>
                </a:solidFill>
                <a:cs typeface="Calibri"/>
              </a:rPr>
              <a:t>Requirements Gathering</a:t>
            </a:r>
          </a:p>
          <a:p>
            <a:pPr marL="0" indent="0">
              <a:buNone/>
            </a:pPr>
            <a:endParaRPr lang="en-US" b="1" dirty="0">
              <a:solidFill>
                <a:schemeClr val="accent2"/>
              </a:solidFill>
              <a:cs typeface="Calibri"/>
            </a:endParaRPr>
          </a:p>
          <a:p>
            <a:pPr marL="0" indent="0">
              <a:buNone/>
            </a:pPr>
            <a:r>
              <a:rPr lang="en-US" dirty="0">
                <a:ea typeface="+mn-lt"/>
                <a:cs typeface="+mn-lt"/>
              </a:rPr>
              <a:t>Requirements analysis involves in understanding of the process, structure of data based on requirement of the project. System analysis helps in making better and efficient system. </a:t>
            </a:r>
          </a:p>
          <a:p>
            <a:pPr marL="0" indent="0">
              <a:buNone/>
            </a:pPr>
            <a:r>
              <a:rPr lang="en-US" dirty="0">
                <a:ea typeface="+mn-lt"/>
                <a:cs typeface="+mn-lt"/>
              </a:rPr>
              <a:t>I have gathered requirement from various sources such as</a:t>
            </a:r>
          </a:p>
          <a:p>
            <a:r>
              <a:rPr lang="en-US" dirty="0">
                <a:ea typeface="+mn-lt"/>
                <a:cs typeface="+mn-lt"/>
              </a:rPr>
              <a:t>Interviewing users</a:t>
            </a:r>
          </a:p>
          <a:p>
            <a:r>
              <a:rPr lang="en-US" dirty="0">
                <a:ea typeface="+mn-lt"/>
                <a:cs typeface="+mn-lt"/>
              </a:rPr>
              <a:t>Surfing the Internet</a:t>
            </a:r>
          </a:p>
          <a:p>
            <a:r>
              <a:rPr lang="en-US" dirty="0">
                <a:ea typeface="+mn-lt"/>
                <a:cs typeface="+mn-lt"/>
              </a:rPr>
              <a:t>Research through similar projects documentation.</a:t>
            </a:r>
          </a:p>
          <a:p>
            <a:pPr marL="0" indent="0">
              <a:buNone/>
            </a:pPr>
            <a:endParaRPr lang="en-US" dirty="0">
              <a:cs typeface="Calibri"/>
            </a:endParaRPr>
          </a:p>
        </p:txBody>
      </p:sp>
      <p:sp>
        <p:nvSpPr>
          <p:cNvPr id="2" name="Slide Number Placeholder 1"/>
          <p:cNvSpPr>
            <a:spLocks noGrp="1"/>
          </p:cNvSpPr>
          <p:nvPr>
            <p:ph type="sldNum" sz="quarter" idx="12"/>
          </p:nvPr>
        </p:nvSpPr>
        <p:spPr/>
        <p:txBody>
          <a:bodyPr/>
          <a:lstStyle/>
          <a:p>
            <a:fld id="{48F63A3B-78C7-47BE-AE5E-E10140E04643}" type="slidenum">
              <a:rPr lang="en-US" smtClean="0"/>
              <a:t>7</a:t>
            </a:fld>
            <a:endParaRPr lang="en-US" dirty="0"/>
          </a:p>
        </p:txBody>
      </p:sp>
    </p:spTree>
    <p:extLst>
      <p:ext uri="{BB962C8B-B14F-4D97-AF65-F5344CB8AC3E}">
        <p14:creationId xmlns:p14="http://schemas.microsoft.com/office/powerpoint/2010/main" val="483027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6858000" cy="1379074"/>
          </a:xfrm>
          <a:solidFill>
            <a:schemeClr val="accent2"/>
          </a:solidFill>
        </p:spPr>
        <p:txBody>
          <a:bodyPr>
            <a:normAutofit/>
          </a:bodyPr>
          <a:lstStyle/>
          <a:p>
            <a:r>
              <a:rPr lang="en-GB" b="1" dirty="0"/>
              <a:t>   Functional requirements</a:t>
            </a:r>
          </a:p>
        </p:txBody>
      </p:sp>
      <p:sp>
        <p:nvSpPr>
          <p:cNvPr id="4" name="Slide Number Placeholder 3"/>
          <p:cNvSpPr>
            <a:spLocks noGrp="1"/>
          </p:cNvSpPr>
          <p:nvPr>
            <p:ph type="sldNum" sz="quarter" idx="12"/>
          </p:nvPr>
        </p:nvSpPr>
        <p:spPr/>
        <p:txBody>
          <a:bodyPr/>
          <a:lstStyle/>
          <a:p>
            <a:fld id="{48F63A3B-78C7-47BE-AE5E-E10140E04643}" type="slidenum">
              <a:rPr lang="en-US" smtClean="0"/>
              <a:pPr/>
              <a:t>8</a:t>
            </a:fld>
            <a:endParaRPr lang="en-US" dirty="0"/>
          </a:p>
        </p:txBody>
      </p:sp>
      <p:sp>
        <p:nvSpPr>
          <p:cNvPr id="8" name="Rounded Rectangle 7" descr="Database with solid fill"/>
          <p:cNvSpPr/>
          <p:nvPr/>
        </p:nvSpPr>
        <p:spPr>
          <a:xfrm>
            <a:off x="2495946" y="1811440"/>
            <a:ext cx="2399508" cy="1653261"/>
          </a:xfrm>
          <a:prstGeom prst="round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t="-23000" b="-23000"/>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0" name="Rounded Rectangle 9"/>
          <p:cNvSpPr/>
          <p:nvPr/>
        </p:nvSpPr>
        <p:spPr>
          <a:xfrm>
            <a:off x="5035946" y="1811441"/>
            <a:ext cx="1961754" cy="1653261"/>
          </a:xfrm>
          <a:prstGeom prst="roundRect">
            <a:avLst/>
          </a:prstGeom>
          <a:blipFill>
            <a:blip r:embed="rId4">
              <a:extLst>
                <a:ext uri="{28A0092B-C50C-407E-A947-70E740481C1C}">
                  <a14:useLocalDpi xmlns:a14="http://schemas.microsoft.com/office/drawing/2010/main" val="0"/>
                </a:ext>
              </a:extLst>
            </a:blip>
            <a:srcRect/>
            <a:stretch>
              <a:fillRect t="-23000" b="-23000"/>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pic>
        <p:nvPicPr>
          <p:cNvPr id="1028" name="Picture 4" descr="Image result for computer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488" y="1523641"/>
            <a:ext cx="2228850" cy="22288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596900" y="3752491"/>
            <a:ext cx="6108700" cy="523220"/>
          </a:xfrm>
          <a:prstGeom prst="rect">
            <a:avLst/>
          </a:prstGeom>
          <a:noFill/>
        </p:spPr>
        <p:txBody>
          <a:bodyPr wrap="square" rtlCol="0">
            <a:spAutoFit/>
          </a:bodyPr>
          <a:lstStyle/>
          <a:p>
            <a:r>
              <a:rPr lang="en-US" sz="2800" dirty="0"/>
              <a:t>Computer        Algorithm     Database                                             </a:t>
            </a:r>
            <a:endParaRPr lang="en-GB" sz="2800" dirty="0"/>
          </a:p>
        </p:txBody>
      </p:sp>
      <p:sp>
        <p:nvSpPr>
          <p:cNvPr id="12" name="TextBox 11"/>
          <p:cNvSpPr txBox="1"/>
          <p:nvPr/>
        </p:nvSpPr>
        <p:spPr>
          <a:xfrm>
            <a:off x="309282" y="4953000"/>
            <a:ext cx="6243918" cy="3539430"/>
          </a:xfrm>
          <a:prstGeom prst="rect">
            <a:avLst/>
          </a:prstGeom>
          <a:noFill/>
        </p:spPr>
        <p:txBody>
          <a:bodyPr wrap="square" rtlCol="0">
            <a:spAutoFit/>
          </a:bodyPr>
          <a:lstStyle/>
          <a:p>
            <a:r>
              <a:rPr lang="en-US" sz="2800" dirty="0"/>
              <a:t>A computer for making and handling assignments</a:t>
            </a:r>
          </a:p>
          <a:p>
            <a:endParaRPr lang="en-US" sz="2800" dirty="0"/>
          </a:p>
          <a:p>
            <a:r>
              <a:rPr lang="en-US" sz="2800" dirty="0"/>
              <a:t>A Database to store Patients , Doctor and Hospital’s Data.</a:t>
            </a:r>
          </a:p>
          <a:p>
            <a:endParaRPr lang="en-US" sz="2800" dirty="0"/>
          </a:p>
          <a:p>
            <a:r>
              <a:rPr lang="en-US" sz="2800" dirty="0"/>
              <a:t>Mathematical algorithm to suggest doctor based on symptoms.</a:t>
            </a:r>
            <a:endParaRPr lang="en-GB" sz="2800" dirty="0"/>
          </a:p>
        </p:txBody>
      </p:sp>
    </p:spTree>
    <p:extLst>
      <p:ext uri="{BB962C8B-B14F-4D97-AF65-F5344CB8AC3E}">
        <p14:creationId xmlns:p14="http://schemas.microsoft.com/office/powerpoint/2010/main" val="1106977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1257300"/>
          </a:xfrm>
          <a:solidFill>
            <a:schemeClr val="accent2"/>
          </a:solidFill>
        </p:spPr>
        <p:txBody>
          <a:bodyPr>
            <a:normAutofit/>
          </a:bodyPr>
          <a:lstStyle/>
          <a:p>
            <a:r>
              <a:rPr lang="en-US" b="1" dirty="0"/>
              <a:t>Non-functional requirements</a:t>
            </a:r>
            <a:endParaRPr lang="en-GB" b="1"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9</a:t>
            </a:fld>
            <a:endParaRPr lang="en-US" dirty="0"/>
          </a:p>
        </p:txBody>
      </p:sp>
      <p:sp>
        <p:nvSpPr>
          <p:cNvPr id="5" name="Content Placeholder 2">
            <a:extLst>
              <a:ext uri="{FF2B5EF4-FFF2-40B4-BE49-F238E27FC236}">
                <a16:creationId xmlns:a16="http://schemas.microsoft.com/office/drawing/2014/main" id="{409BB2D6-6DAA-2675-2613-737F494FD21E}"/>
              </a:ext>
            </a:extLst>
          </p:cNvPr>
          <p:cNvSpPr>
            <a:spLocks noGrp="1"/>
          </p:cNvSpPr>
          <p:nvPr>
            <p:ph sz="quarter" idx="4294967295"/>
          </p:nvPr>
        </p:nvSpPr>
        <p:spPr>
          <a:xfrm>
            <a:off x="1" y="1695454"/>
            <a:ext cx="6718852" cy="6820749"/>
          </a:xfrm>
          <a:prstGeom prst="rect">
            <a:avLst/>
          </a:prstGeom>
        </p:spPr>
        <p:txBody>
          <a:bodyPr>
            <a:normAutofit/>
          </a:bodyPr>
          <a:lstStyle/>
          <a:p>
            <a:r>
              <a:rPr lang="en-GB" b="1" dirty="0"/>
              <a:t> </a:t>
            </a:r>
            <a:r>
              <a:rPr lang="en-GB" sz="3000" b="1" dirty="0"/>
              <a:t>Reliability requirements</a:t>
            </a:r>
          </a:p>
          <a:p>
            <a:pPr marL="0" indent="0">
              <a:buNone/>
            </a:pPr>
            <a:r>
              <a:rPr lang="en-GB" sz="2000" dirty="0"/>
              <a:t>The program's accuracy ought to be greater than 90%.</a:t>
            </a:r>
          </a:p>
          <a:p>
            <a:r>
              <a:rPr lang="en-GB" sz="3000" b="1" dirty="0"/>
              <a:t>Scalability requirements</a:t>
            </a:r>
          </a:p>
          <a:p>
            <a:pPr marL="0" indent="0">
              <a:buNone/>
            </a:pPr>
            <a:r>
              <a:rPr lang="en-GB" sz="2000" dirty="0"/>
              <a:t> ability to appropriately handle increasing (and decreasing) workloads</a:t>
            </a:r>
          </a:p>
          <a:p>
            <a:r>
              <a:rPr lang="en-GB" sz="3000" b="1" dirty="0"/>
              <a:t>Usability requirements  </a:t>
            </a:r>
          </a:p>
          <a:p>
            <a:pPr marL="0" indent="0">
              <a:buNone/>
            </a:pPr>
            <a:r>
              <a:rPr lang="en-GB" sz="2000" dirty="0"/>
              <a:t>It</a:t>
            </a:r>
            <a:r>
              <a:rPr lang="en-GB" sz="1700" dirty="0"/>
              <a:t> </a:t>
            </a:r>
            <a:r>
              <a:rPr lang="en-GB" sz="2000" dirty="0"/>
              <a:t>should be simple to modify the model. </a:t>
            </a:r>
          </a:p>
          <a:p>
            <a:r>
              <a:rPr lang="en-GB" sz="3000" b="1" dirty="0"/>
              <a:t>Availability requirements</a:t>
            </a:r>
          </a:p>
          <a:p>
            <a:pPr marL="0" indent="0">
              <a:buNone/>
            </a:pPr>
            <a:r>
              <a:rPr lang="en-GB" sz="2000" dirty="0"/>
              <a:t>It should be easily accessible for use on other platforms, such as Mac OS.</a:t>
            </a:r>
          </a:p>
          <a:p>
            <a:r>
              <a:rPr lang="en-GB" sz="3000" b="1" dirty="0"/>
              <a:t>Data Integrity requirements</a:t>
            </a:r>
          </a:p>
          <a:p>
            <a:pPr marL="0" indent="0">
              <a:buNone/>
            </a:pPr>
            <a:r>
              <a:rPr lang="en-GB" sz="2000" dirty="0"/>
              <a:t>It should not collect data without people's permission.</a:t>
            </a:r>
          </a:p>
        </p:txBody>
      </p:sp>
    </p:spTree>
    <p:extLst>
      <p:ext uri="{BB962C8B-B14F-4D97-AF65-F5344CB8AC3E}">
        <p14:creationId xmlns:p14="http://schemas.microsoft.com/office/powerpoint/2010/main" val="3311279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7999" cy="1228299"/>
          </a:xfrm>
          <a:solidFill>
            <a:schemeClr val="accent2"/>
          </a:solidFill>
          <a:ln>
            <a:solidFill>
              <a:schemeClr val="accent1"/>
            </a:solidFill>
          </a:ln>
        </p:spPr>
        <p:txBody>
          <a:bodyPr/>
          <a:lstStyle/>
          <a:p>
            <a:r>
              <a:rPr lang="en-US" b="1" dirty="0"/>
              <a:t>                Risk table</a:t>
            </a:r>
            <a:endParaRPr lang="en-GB" b="1"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10</a:t>
            </a:fld>
            <a:endParaRPr lang="en-US" dirty="0"/>
          </a:p>
        </p:txBody>
      </p:sp>
      <p:graphicFrame>
        <p:nvGraphicFramePr>
          <p:cNvPr id="6" name="Table 14">
            <a:extLst>
              <a:ext uri="{FF2B5EF4-FFF2-40B4-BE49-F238E27FC236}">
                <a16:creationId xmlns:a16="http://schemas.microsoft.com/office/drawing/2014/main" id="{41802180-DBAD-F0C0-195C-62A0774598C5}"/>
              </a:ext>
            </a:extLst>
          </p:cNvPr>
          <p:cNvGraphicFramePr>
            <a:graphicFrameLocks/>
          </p:cNvGraphicFramePr>
          <p:nvPr>
            <p:extLst>
              <p:ext uri="{D42A27DB-BD31-4B8C-83A1-F6EECF244321}">
                <p14:modId xmlns:p14="http://schemas.microsoft.com/office/powerpoint/2010/main" val="3551087857"/>
              </p:ext>
            </p:extLst>
          </p:nvPr>
        </p:nvGraphicFramePr>
        <p:xfrm>
          <a:off x="1" y="1719618"/>
          <a:ext cx="6857998" cy="7096837"/>
        </p:xfrm>
        <a:graphic>
          <a:graphicData uri="http://schemas.openxmlformats.org/drawingml/2006/table">
            <a:tbl>
              <a:tblPr firstRow="1" bandRow="1">
                <a:tableStyleId>{5C22544A-7EE6-4342-B048-85BDC9FD1C3A}</a:tableStyleId>
              </a:tblPr>
              <a:tblGrid>
                <a:gridCol w="2484522">
                  <a:extLst>
                    <a:ext uri="{9D8B030D-6E8A-4147-A177-3AD203B41FA5}">
                      <a16:colId xmlns:a16="http://schemas.microsoft.com/office/drawing/2014/main" val="3583061770"/>
                    </a:ext>
                  </a:extLst>
                </a:gridCol>
                <a:gridCol w="2087477">
                  <a:extLst>
                    <a:ext uri="{9D8B030D-6E8A-4147-A177-3AD203B41FA5}">
                      <a16:colId xmlns:a16="http://schemas.microsoft.com/office/drawing/2014/main" val="2470040597"/>
                    </a:ext>
                  </a:extLst>
                </a:gridCol>
                <a:gridCol w="2285999">
                  <a:extLst>
                    <a:ext uri="{9D8B030D-6E8A-4147-A177-3AD203B41FA5}">
                      <a16:colId xmlns:a16="http://schemas.microsoft.com/office/drawing/2014/main" val="3828608069"/>
                    </a:ext>
                  </a:extLst>
                </a:gridCol>
              </a:tblGrid>
              <a:tr h="660171">
                <a:tc>
                  <a:txBody>
                    <a:bodyPr/>
                    <a:lstStyle/>
                    <a:p>
                      <a:r>
                        <a:rPr lang="en-GB" dirty="0"/>
                        <a:t>Risk Description</a:t>
                      </a:r>
                    </a:p>
                  </a:txBody>
                  <a:tcPr/>
                </a:tc>
                <a:tc>
                  <a:txBody>
                    <a:bodyPr/>
                    <a:lstStyle/>
                    <a:p>
                      <a:r>
                        <a:rPr lang="en-GB" dirty="0"/>
                        <a:t>Severity</a:t>
                      </a:r>
                    </a:p>
                  </a:txBody>
                  <a:tcPr/>
                </a:tc>
                <a:tc>
                  <a:txBody>
                    <a:bodyPr/>
                    <a:lstStyle/>
                    <a:p>
                      <a:r>
                        <a:rPr lang="en-GB" dirty="0"/>
                        <a:t>Impact</a:t>
                      </a:r>
                    </a:p>
                  </a:txBody>
                  <a:tcPr/>
                </a:tc>
                <a:extLst>
                  <a:ext uri="{0D108BD9-81ED-4DB2-BD59-A6C34878D82A}">
                    <a16:rowId xmlns:a16="http://schemas.microsoft.com/office/drawing/2014/main" val="2122961841"/>
                  </a:ext>
                </a:extLst>
              </a:tr>
              <a:tr h="1155299">
                <a:tc>
                  <a:txBody>
                    <a:bodyPr/>
                    <a:lstStyle/>
                    <a:p>
                      <a:r>
                        <a:rPr lang="en-GB" dirty="0"/>
                        <a:t>Hardware and software break</a:t>
                      </a:r>
                    </a:p>
                  </a:txBody>
                  <a:tcPr/>
                </a:tc>
                <a:tc>
                  <a:txBody>
                    <a:bodyPr/>
                    <a:lstStyle/>
                    <a:p>
                      <a:r>
                        <a:rPr lang="en-GB" dirty="0"/>
                        <a:t>critical</a:t>
                      </a:r>
                    </a:p>
                  </a:txBody>
                  <a:tcPr/>
                </a:tc>
                <a:tc>
                  <a:txBody>
                    <a:bodyPr/>
                    <a:lstStyle/>
                    <a:p>
                      <a:r>
                        <a:rPr lang="en-GB" dirty="0"/>
                        <a:t>catastrophic</a:t>
                      </a:r>
                    </a:p>
                  </a:txBody>
                  <a:tcPr/>
                </a:tc>
                <a:extLst>
                  <a:ext uri="{0D108BD9-81ED-4DB2-BD59-A6C34878D82A}">
                    <a16:rowId xmlns:a16="http://schemas.microsoft.com/office/drawing/2014/main" val="154385465"/>
                  </a:ext>
                </a:extLst>
              </a:tr>
              <a:tr h="1155299">
                <a:tc>
                  <a:txBody>
                    <a:bodyPr/>
                    <a:lstStyle/>
                    <a:p>
                      <a:r>
                        <a:rPr lang="en-GB" dirty="0"/>
                        <a:t>Bugs and errors in coding</a:t>
                      </a:r>
                    </a:p>
                  </a:txBody>
                  <a:tcPr/>
                </a:tc>
                <a:tc>
                  <a:txBody>
                    <a:bodyPr/>
                    <a:lstStyle/>
                    <a:p>
                      <a:r>
                        <a:rPr lang="en-GB" dirty="0"/>
                        <a:t>medium</a:t>
                      </a:r>
                    </a:p>
                  </a:txBody>
                  <a:tcPr/>
                </a:tc>
                <a:tc>
                  <a:txBody>
                    <a:bodyPr/>
                    <a:lstStyle/>
                    <a:p>
                      <a:r>
                        <a:rPr lang="en-GB" dirty="0"/>
                        <a:t>tolerable</a:t>
                      </a:r>
                    </a:p>
                  </a:txBody>
                  <a:tcPr/>
                </a:tc>
                <a:extLst>
                  <a:ext uri="{0D108BD9-81ED-4DB2-BD59-A6C34878D82A}">
                    <a16:rowId xmlns:a16="http://schemas.microsoft.com/office/drawing/2014/main" val="373775526"/>
                  </a:ext>
                </a:extLst>
              </a:tr>
              <a:tr h="660171">
                <a:tc>
                  <a:txBody>
                    <a:bodyPr/>
                    <a:lstStyle/>
                    <a:p>
                      <a:r>
                        <a:rPr lang="en-GB" dirty="0"/>
                        <a:t>Internet failure</a:t>
                      </a:r>
                    </a:p>
                  </a:txBody>
                  <a:tcPr/>
                </a:tc>
                <a:tc>
                  <a:txBody>
                    <a:bodyPr/>
                    <a:lstStyle/>
                    <a:p>
                      <a:r>
                        <a:rPr lang="en-GB" dirty="0"/>
                        <a:t>critical</a:t>
                      </a:r>
                    </a:p>
                  </a:txBody>
                  <a:tcPr/>
                </a:tc>
                <a:tc>
                  <a:txBody>
                    <a:bodyPr/>
                    <a:lstStyle/>
                    <a:p>
                      <a:r>
                        <a:rPr lang="en-GB" dirty="0"/>
                        <a:t>serious</a:t>
                      </a:r>
                    </a:p>
                  </a:txBody>
                  <a:tcPr/>
                </a:tc>
                <a:extLst>
                  <a:ext uri="{0D108BD9-81ED-4DB2-BD59-A6C34878D82A}">
                    <a16:rowId xmlns:a16="http://schemas.microsoft.com/office/drawing/2014/main" val="2968024397"/>
                  </a:ext>
                </a:extLst>
              </a:tr>
              <a:tr h="1155299">
                <a:tc>
                  <a:txBody>
                    <a:bodyPr/>
                    <a:lstStyle/>
                    <a:p>
                      <a:r>
                        <a:rPr lang="en-GB" dirty="0"/>
                        <a:t>Missing key dates and milestones</a:t>
                      </a:r>
                    </a:p>
                  </a:txBody>
                  <a:tcPr/>
                </a:tc>
                <a:tc>
                  <a:txBody>
                    <a:bodyPr/>
                    <a:lstStyle/>
                    <a:p>
                      <a:r>
                        <a:rPr lang="en-GB" dirty="0"/>
                        <a:t>medium</a:t>
                      </a:r>
                    </a:p>
                  </a:txBody>
                  <a:tcPr/>
                </a:tc>
                <a:tc>
                  <a:txBody>
                    <a:bodyPr/>
                    <a:lstStyle/>
                    <a:p>
                      <a:r>
                        <a:rPr lang="en-GB" dirty="0"/>
                        <a:t>serious</a:t>
                      </a:r>
                    </a:p>
                  </a:txBody>
                  <a:tcPr/>
                </a:tc>
                <a:extLst>
                  <a:ext uri="{0D108BD9-81ED-4DB2-BD59-A6C34878D82A}">
                    <a16:rowId xmlns:a16="http://schemas.microsoft.com/office/drawing/2014/main" val="1807270594"/>
                  </a:ext>
                </a:extLst>
              </a:tr>
              <a:tr h="1155299">
                <a:tc>
                  <a:txBody>
                    <a:bodyPr/>
                    <a:lstStyle/>
                    <a:p>
                      <a:r>
                        <a:rPr lang="en-GB" dirty="0"/>
                        <a:t>Main requirement not being fulfilled</a:t>
                      </a:r>
                    </a:p>
                  </a:txBody>
                  <a:tcPr/>
                </a:tc>
                <a:tc>
                  <a:txBody>
                    <a:bodyPr/>
                    <a:lstStyle/>
                    <a:p>
                      <a:r>
                        <a:rPr lang="en-GB" dirty="0"/>
                        <a:t>low</a:t>
                      </a:r>
                    </a:p>
                  </a:txBody>
                  <a:tcPr/>
                </a:tc>
                <a:tc>
                  <a:txBody>
                    <a:bodyPr/>
                    <a:lstStyle/>
                    <a:p>
                      <a:r>
                        <a:rPr lang="en-GB" dirty="0"/>
                        <a:t>catastrophic</a:t>
                      </a:r>
                    </a:p>
                  </a:txBody>
                  <a:tcPr/>
                </a:tc>
                <a:extLst>
                  <a:ext uri="{0D108BD9-81ED-4DB2-BD59-A6C34878D82A}">
                    <a16:rowId xmlns:a16="http://schemas.microsoft.com/office/drawing/2014/main" val="1888776260"/>
                  </a:ext>
                </a:extLst>
              </a:tr>
              <a:tr h="1155299">
                <a:tc>
                  <a:txBody>
                    <a:bodyPr/>
                    <a:lstStyle/>
                    <a:p>
                      <a:r>
                        <a:rPr lang="en-GB" dirty="0"/>
                        <a:t>Uncertain medical issues</a:t>
                      </a:r>
                    </a:p>
                  </a:txBody>
                  <a:tcPr/>
                </a:tc>
                <a:tc>
                  <a:txBody>
                    <a:bodyPr/>
                    <a:lstStyle/>
                    <a:p>
                      <a:r>
                        <a:rPr lang="en-GB" dirty="0"/>
                        <a:t>low</a:t>
                      </a:r>
                    </a:p>
                  </a:txBody>
                  <a:tcPr/>
                </a:tc>
                <a:tc>
                  <a:txBody>
                    <a:bodyPr/>
                    <a:lstStyle/>
                    <a:p>
                      <a:r>
                        <a:rPr lang="en-GB" dirty="0"/>
                        <a:t>Serious</a:t>
                      </a:r>
                    </a:p>
                  </a:txBody>
                  <a:tcPr/>
                </a:tc>
                <a:extLst>
                  <a:ext uri="{0D108BD9-81ED-4DB2-BD59-A6C34878D82A}">
                    <a16:rowId xmlns:a16="http://schemas.microsoft.com/office/drawing/2014/main" val="3591630398"/>
                  </a:ext>
                </a:extLst>
              </a:tr>
            </a:tbl>
          </a:graphicData>
        </a:graphic>
      </p:graphicFrame>
    </p:spTree>
    <p:extLst>
      <p:ext uri="{BB962C8B-B14F-4D97-AF65-F5344CB8AC3E}">
        <p14:creationId xmlns:p14="http://schemas.microsoft.com/office/powerpoint/2010/main" val="3384193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1A0E9-20D0-9668-16C4-04579F72F4D1}"/>
              </a:ext>
            </a:extLst>
          </p:cNvPr>
          <p:cNvSpPr>
            <a:spLocks noGrp="1"/>
          </p:cNvSpPr>
          <p:nvPr>
            <p:ph type="title"/>
          </p:nvPr>
        </p:nvSpPr>
        <p:spPr>
          <a:xfrm>
            <a:off x="0" y="0"/>
            <a:ext cx="6857999" cy="1596788"/>
          </a:xfrm>
          <a:solidFill>
            <a:schemeClr val="accent2"/>
          </a:solidFill>
        </p:spPr>
        <p:txBody>
          <a:bodyPr/>
          <a:lstStyle/>
          <a:p>
            <a:r>
              <a:rPr lang="en-US" b="1" dirty="0"/>
              <a:t>            Methodology</a:t>
            </a:r>
          </a:p>
        </p:txBody>
      </p:sp>
      <p:sp>
        <p:nvSpPr>
          <p:cNvPr id="4" name="Slide Number Placeholder 3">
            <a:extLst>
              <a:ext uri="{FF2B5EF4-FFF2-40B4-BE49-F238E27FC236}">
                <a16:creationId xmlns:a16="http://schemas.microsoft.com/office/drawing/2014/main" id="{7E3A4F0B-67AD-F789-BF87-99BC00AC8FA2}"/>
              </a:ext>
            </a:extLst>
          </p:cNvPr>
          <p:cNvSpPr>
            <a:spLocks noGrp="1"/>
          </p:cNvSpPr>
          <p:nvPr>
            <p:ph type="sldNum" sz="quarter" idx="12"/>
          </p:nvPr>
        </p:nvSpPr>
        <p:spPr/>
        <p:txBody>
          <a:bodyPr/>
          <a:lstStyle/>
          <a:p>
            <a:fld id="{48F63A3B-78C7-47BE-AE5E-E10140E04643}" type="slidenum">
              <a:rPr lang="en-US" smtClean="0"/>
              <a:pPr/>
              <a:t>11</a:t>
            </a:fld>
            <a:endParaRPr lang="en-US" dirty="0"/>
          </a:p>
        </p:txBody>
      </p:sp>
      <p:pic>
        <p:nvPicPr>
          <p:cNvPr id="8" name="Picture 7">
            <a:extLst>
              <a:ext uri="{FF2B5EF4-FFF2-40B4-BE49-F238E27FC236}">
                <a16:creationId xmlns:a16="http://schemas.microsoft.com/office/drawing/2014/main" id="{DE929B65-6E7C-0398-406E-BD50C0388F08}"/>
              </a:ext>
            </a:extLst>
          </p:cNvPr>
          <p:cNvPicPr>
            <a:picLocks noChangeAspect="1"/>
          </p:cNvPicPr>
          <p:nvPr/>
        </p:nvPicPr>
        <p:blipFill>
          <a:blip r:embed="rId2"/>
          <a:stretch>
            <a:fillRect/>
          </a:stretch>
        </p:blipFill>
        <p:spPr>
          <a:xfrm>
            <a:off x="0" y="3614979"/>
            <a:ext cx="6858000" cy="1443113"/>
          </a:xfrm>
          <a:prstGeom prst="rect">
            <a:avLst/>
          </a:prstGeom>
        </p:spPr>
      </p:pic>
      <p:sp>
        <p:nvSpPr>
          <p:cNvPr id="9" name="TextBox 8">
            <a:extLst>
              <a:ext uri="{FF2B5EF4-FFF2-40B4-BE49-F238E27FC236}">
                <a16:creationId xmlns:a16="http://schemas.microsoft.com/office/drawing/2014/main" id="{E2561B0E-20EB-36F6-2217-DA821FB93D6B}"/>
              </a:ext>
            </a:extLst>
          </p:cNvPr>
          <p:cNvSpPr txBox="1"/>
          <p:nvPr/>
        </p:nvSpPr>
        <p:spPr>
          <a:xfrm>
            <a:off x="1017079" y="2778939"/>
            <a:ext cx="4960320" cy="553998"/>
          </a:xfrm>
          <a:prstGeom prst="rect">
            <a:avLst/>
          </a:prstGeom>
          <a:noFill/>
        </p:spPr>
        <p:txBody>
          <a:bodyPr wrap="square" rtlCol="0">
            <a:spAutoFit/>
          </a:bodyPr>
          <a:lstStyle/>
          <a:p>
            <a:r>
              <a:rPr lang="en-US" sz="3000" dirty="0">
                <a:solidFill>
                  <a:schemeClr val="accent2"/>
                </a:solidFill>
              </a:rPr>
              <a:t>Prototyping Methodology</a:t>
            </a:r>
          </a:p>
        </p:txBody>
      </p:sp>
      <p:sp>
        <p:nvSpPr>
          <p:cNvPr id="10" name="TextBox 9">
            <a:extLst>
              <a:ext uri="{FF2B5EF4-FFF2-40B4-BE49-F238E27FC236}">
                <a16:creationId xmlns:a16="http://schemas.microsoft.com/office/drawing/2014/main" id="{BCB76076-3A06-6641-770F-604DD888C6AA}"/>
              </a:ext>
            </a:extLst>
          </p:cNvPr>
          <p:cNvSpPr txBox="1"/>
          <p:nvPr/>
        </p:nvSpPr>
        <p:spPr>
          <a:xfrm>
            <a:off x="136478" y="5486400"/>
            <a:ext cx="6721522" cy="1815882"/>
          </a:xfrm>
          <a:prstGeom prst="rect">
            <a:avLst/>
          </a:prstGeom>
          <a:noFill/>
        </p:spPr>
        <p:txBody>
          <a:bodyPr wrap="square" rtlCol="0">
            <a:spAutoFit/>
          </a:bodyPr>
          <a:lstStyle/>
          <a:p>
            <a:r>
              <a:rPr lang="en-US" sz="2800" dirty="0"/>
              <a:t>Prototyping involves creating a initial prototype consisting of fundamental features and refining and including other features until finalization</a:t>
            </a:r>
            <a:r>
              <a:rPr lang="en-US" sz="2400" dirty="0"/>
              <a:t>.</a:t>
            </a:r>
          </a:p>
        </p:txBody>
      </p:sp>
    </p:spTree>
    <p:extLst>
      <p:ext uri="{BB962C8B-B14F-4D97-AF65-F5344CB8AC3E}">
        <p14:creationId xmlns:p14="http://schemas.microsoft.com/office/powerpoint/2010/main" val="635207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7999" cy="1009847"/>
          </a:xfrm>
          <a:solidFill>
            <a:schemeClr val="accent2"/>
          </a:solidFill>
        </p:spPr>
        <p:txBody>
          <a:bodyPr>
            <a:normAutofit fontScale="90000"/>
          </a:bodyPr>
          <a:lstStyle/>
          <a:p>
            <a:r>
              <a:rPr lang="en-GB" b="1" dirty="0"/>
              <a:t>Summary of Risk Mitigation      Strategy</a:t>
            </a:r>
          </a:p>
        </p:txBody>
      </p:sp>
      <p:sp>
        <p:nvSpPr>
          <p:cNvPr id="4" name="Slide Number Placeholder 3"/>
          <p:cNvSpPr>
            <a:spLocks noGrp="1"/>
          </p:cNvSpPr>
          <p:nvPr>
            <p:ph type="sldNum" sz="quarter" idx="12"/>
          </p:nvPr>
        </p:nvSpPr>
        <p:spPr/>
        <p:txBody>
          <a:bodyPr/>
          <a:lstStyle/>
          <a:p>
            <a:fld id="{48F63A3B-78C7-47BE-AE5E-E10140E04643}" type="slidenum">
              <a:rPr lang="en-US" smtClean="0"/>
              <a:pPr/>
              <a:t>12</a:t>
            </a:fld>
            <a:endParaRPr lang="en-US" dirty="0"/>
          </a:p>
        </p:txBody>
      </p:sp>
      <p:graphicFrame>
        <p:nvGraphicFramePr>
          <p:cNvPr id="5" name="Table 7">
            <a:extLst>
              <a:ext uri="{FF2B5EF4-FFF2-40B4-BE49-F238E27FC236}">
                <a16:creationId xmlns:a16="http://schemas.microsoft.com/office/drawing/2014/main" id="{472A6C34-51C7-08D2-A552-B168348AE3FC}"/>
              </a:ext>
            </a:extLst>
          </p:cNvPr>
          <p:cNvGraphicFramePr>
            <a:graphicFrameLocks/>
          </p:cNvGraphicFramePr>
          <p:nvPr>
            <p:extLst>
              <p:ext uri="{D42A27DB-BD31-4B8C-83A1-F6EECF244321}">
                <p14:modId xmlns:p14="http://schemas.microsoft.com/office/powerpoint/2010/main" val="273557857"/>
              </p:ext>
            </p:extLst>
          </p:nvPr>
        </p:nvGraphicFramePr>
        <p:xfrm>
          <a:off x="0" y="2126174"/>
          <a:ext cx="6858000" cy="367284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3797196241"/>
                    </a:ext>
                  </a:extLst>
                </a:gridCol>
                <a:gridCol w="3429000">
                  <a:extLst>
                    <a:ext uri="{9D8B030D-6E8A-4147-A177-3AD203B41FA5}">
                      <a16:colId xmlns:a16="http://schemas.microsoft.com/office/drawing/2014/main" val="2399720321"/>
                    </a:ext>
                  </a:extLst>
                </a:gridCol>
              </a:tblGrid>
              <a:tr h="370840">
                <a:tc>
                  <a:txBody>
                    <a:bodyPr/>
                    <a:lstStyle/>
                    <a:p>
                      <a:r>
                        <a:rPr lang="en-GB" dirty="0"/>
                        <a:t>Risk Description</a:t>
                      </a:r>
                    </a:p>
                  </a:txBody>
                  <a:tcPr/>
                </a:tc>
                <a:tc>
                  <a:txBody>
                    <a:bodyPr/>
                    <a:lstStyle/>
                    <a:p>
                      <a:r>
                        <a:rPr lang="en-GB" dirty="0"/>
                        <a:t>Mitigations</a:t>
                      </a:r>
                    </a:p>
                  </a:txBody>
                  <a:tcPr/>
                </a:tc>
                <a:extLst>
                  <a:ext uri="{0D108BD9-81ED-4DB2-BD59-A6C34878D82A}">
                    <a16:rowId xmlns:a16="http://schemas.microsoft.com/office/drawing/2014/main" val="360624061"/>
                  </a:ext>
                </a:extLst>
              </a:tr>
              <a:tr h="370840">
                <a:tc>
                  <a:txBody>
                    <a:bodyPr/>
                    <a:lstStyle/>
                    <a:p>
                      <a:r>
                        <a:rPr lang="en-GB" dirty="0"/>
                        <a:t>Hardware and software break</a:t>
                      </a:r>
                    </a:p>
                  </a:txBody>
                  <a:tcPr/>
                </a:tc>
                <a:tc>
                  <a:txBody>
                    <a:bodyPr/>
                    <a:lstStyle/>
                    <a:p>
                      <a:r>
                        <a:rPr lang="en-GB" dirty="0"/>
                        <a:t>Backup the data and resource file in cloud or drive.</a:t>
                      </a:r>
                    </a:p>
                  </a:txBody>
                  <a:tcPr/>
                </a:tc>
                <a:extLst>
                  <a:ext uri="{0D108BD9-81ED-4DB2-BD59-A6C34878D82A}">
                    <a16:rowId xmlns:a16="http://schemas.microsoft.com/office/drawing/2014/main" val="691390558"/>
                  </a:ext>
                </a:extLst>
              </a:tr>
              <a:tr h="370840">
                <a:tc>
                  <a:txBody>
                    <a:bodyPr/>
                    <a:lstStyle/>
                    <a:p>
                      <a:r>
                        <a:rPr lang="en-GB" dirty="0"/>
                        <a:t>Bugs and errors in coding</a:t>
                      </a:r>
                    </a:p>
                  </a:txBody>
                  <a:tcPr/>
                </a:tc>
                <a:tc>
                  <a:txBody>
                    <a:bodyPr/>
                    <a:lstStyle/>
                    <a:p>
                      <a:r>
                        <a:rPr lang="en-GB" dirty="0"/>
                        <a:t>Check online solution in GitHub or community</a:t>
                      </a:r>
                    </a:p>
                  </a:txBody>
                  <a:tcPr/>
                </a:tc>
                <a:extLst>
                  <a:ext uri="{0D108BD9-81ED-4DB2-BD59-A6C34878D82A}">
                    <a16:rowId xmlns:a16="http://schemas.microsoft.com/office/drawing/2014/main" val="815795097"/>
                  </a:ext>
                </a:extLst>
              </a:tr>
              <a:tr h="370840">
                <a:tc>
                  <a:txBody>
                    <a:bodyPr/>
                    <a:lstStyle/>
                    <a:p>
                      <a:r>
                        <a:rPr lang="en-GB" dirty="0"/>
                        <a:t>Internet failure</a:t>
                      </a:r>
                    </a:p>
                  </a:txBody>
                  <a:tcPr/>
                </a:tc>
                <a:tc>
                  <a:txBody>
                    <a:bodyPr/>
                    <a:lstStyle/>
                    <a:p>
                      <a:r>
                        <a:rPr lang="en-GB" dirty="0"/>
                        <a:t>Have Safe and secure connection</a:t>
                      </a:r>
                    </a:p>
                  </a:txBody>
                  <a:tcPr/>
                </a:tc>
                <a:extLst>
                  <a:ext uri="{0D108BD9-81ED-4DB2-BD59-A6C34878D82A}">
                    <a16:rowId xmlns:a16="http://schemas.microsoft.com/office/drawing/2014/main" val="927932185"/>
                  </a:ext>
                </a:extLst>
              </a:tr>
              <a:tr h="370840">
                <a:tc>
                  <a:txBody>
                    <a:bodyPr/>
                    <a:lstStyle/>
                    <a:p>
                      <a:r>
                        <a:rPr lang="en-GB" dirty="0"/>
                        <a:t>Missing key dates and milestones</a:t>
                      </a:r>
                    </a:p>
                  </a:txBody>
                  <a:tcPr/>
                </a:tc>
                <a:tc>
                  <a:txBody>
                    <a:bodyPr/>
                    <a:lstStyle/>
                    <a:p>
                      <a:r>
                        <a:rPr lang="en-GB" dirty="0"/>
                        <a:t>Adjust the timetable accordingly</a:t>
                      </a:r>
                    </a:p>
                  </a:txBody>
                  <a:tcPr/>
                </a:tc>
                <a:extLst>
                  <a:ext uri="{0D108BD9-81ED-4DB2-BD59-A6C34878D82A}">
                    <a16:rowId xmlns:a16="http://schemas.microsoft.com/office/drawing/2014/main" val="420866941"/>
                  </a:ext>
                </a:extLst>
              </a:tr>
              <a:tr h="463550">
                <a:tc>
                  <a:txBody>
                    <a:bodyPr/>
                    <a:lstStyle/>
                    <a:p>
                      <a:r>
                        <a:rPr lang="en-GB" dirty="0"/>
                        <a:t>Main requirement not being fulfilled</a:t>
                      </a:r>
                    </a:p>
                  </a:txBody>
                  <a:tcPr/>
                </a:tc>
                <a:tc>
                  <a:txBody>
                    <a:bodyPr/>
                    <a:lstStyle/>
                    <a:p>
                      <a:r>
                        <a:rPr lang="en-GB" dirty="0"/>
                        <a:t>Try other algorithms and get help from supervisor</a:t>
                      </a:r>
                    </a:p>
                  </a:txBody>
                  <a:tcPr/>
                </a:tc>
                <a:extLst>
                  <a:ext uri="{0D108BD9-81ED-4DB2-BD59-A6C34878D82A}">
                    <a16:rowId xmlns:a16="http://schemas.microsoft.com/office/drawing/2014/main" val="2383407389"/>
                  </a:ext>
                </a:extLst>
              </a:tr>
              <a:tr h="370840">
                <a:tc>
                  <a:txBody>
                    <a:bodyPr/>
                    <a:lstStyle/>
                    <a:p>
                      <a:r>
                        <a:rPr lang="en-GB" dirty="0"/>
                        <a:t>Uncertain medical issues</a:t>
                      </a:r>
                    </a:p>
                  </a:txBody>
                  <a:tcPr/>
                </a:tc>
                <a:tc>
                  <a:txBody>
                    <a:bodyPr/>
                    <a:lstStyle/>
                    <a:p>
                      <a:r>
                        <a:rPr lang="en-GB" dirty="0"/>
                        <a:t>The last option will be applying for deadline extension</a:t>
                      </a:r>
                    </a:p>
                  </a:txBody>
                  <a:tcPr/>
                </a:tc>
                <a:extLst>
                  <a:ext uri="{0D108BD9-81ED-4DB2-BD59-A6C34878D82A}">
                    <a16:rowId xmlns:a16="http://schemas.microsoft.com/office/drawing/2014/main" val="1804598201"/>
                  </a:ext>
                </a:extLst>
              </a:tr>
            </a:tbl>
          </a:graphicData>
        </a:graphic>
      </p:graphicFrame>
    </p:spTree>
    <p:extLst>
      <p:ext uri="{BB962C8B-B14F-4D97-AF65-F5344CB8AC3E}">
        <p14:creationId xmlns:p14="http://schemas.microsoft.com/office/powerpoint/2010/main" val="2907846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
            <a:ext cx="6858000" cy="894995"/>
          </a:xfrm>
          <a:solidFill>
            <a:schemeClr val="accent2"/>
          </a:solidFill>
        </p:spPr>
        <p:txBody>
          <a:bodyPr/>
          <a:lstStyle/>
          <a:p>
            <a:r>
              <a:rPr lang="en-US" b="1" dirty="0"/>
              <a:t>       Gantt Chart</a:t>
            </a:r>
            <a:endParaRPr lang="en-GB" b="1"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13</a:t>
            </a:fld>
            <a:endParaRPr lang="en-US" dirty="0"/>
          </a:p>
        </p:txBody>
      </p:sp>
      <p:pic>
        <p:nvPicPr>
          <p:cNvPr id="5" name="Picture 4"/>
          <p:cNvPicPr>
            <a:picLocks noChangeAspect="1"/>
          </p:cNvPicPr>
          <p:nvPr/>
        </p:nvPicPr>
        <p:blipFill>
          <a:blip r:embed="rId2"/>
          <a:stretch>
            <a:fillRect/>
          </a:stretch>
        </p:blipFill>
        <p:spPr>
          <a:xfrm>
            <a:off x="0" y="1017833"/>
            <a:ext cx="3797300" cy="8343900"/>
          </a:xfrm>
          <a:prstGeom prst="rect">
            <a:avLst/>
          </a:prstGeom>
          <a:noFill/>
          <a:ln>
            <a:noFill/>
          </a:ln>
        </p:spPr>
      </p:pic>
      <p:pic>
        <p:nvPicPr>
          <p:cNvPr id="6" name="Picture 5"/>
          <p:cNvPicPr>
            <a:picLocks noChangeAspect="1"/>
          </p:cNvPicPr>
          <p:nvPr/>
        </p:nvPicPr>
        <p:blipFill>
          <a:blip r:embed="rId3"/>
          <a:stretch>
            <a:fillRect/>
          </a:stretch>
        </p:blipFill>
        <p:spPr>
          <a:xfrm>
            <a:off x="3797300" y="1017837"/>
            <a:ext cx="3060700" cy="8229601"/>
          </a:xfrm>
          <a:prstGeom prst="rect">
            <a:avLst/>
          </a:prstGeom>
          <a:noFill/>
          <a:ln>
            <a:noFill/>
          </a:ln>
        </p:spPr>
      </p:pic>
      <p:sp>
        <p:nvSpPr>
          <p:cNvPr id="7" name="TextBox 6"/>
          <p:cNvSpPr txBox="1"/>
          <p:nvPr/>
        </p:nvSpPr>
        <p:spPr>
          <a:xfrm>
            <a:off x="0" y="9372327"/>
            <a:ext cx="6350000" cy="369332"/>
          </a:xfrm>
          <a:prstGeom prst="rect">
            <a:avLst/>
          </a:prstGeom>
          <a:noFill/>
        </p:spPr>
        <p:txBody>
          <a:bodyPr wrap="square" rtlCol="0">
            <a:spAutoFit/>
          </a:bodyPr>
          <a:lstStyle/>
          <a:p>
            <a:r>
              <a:rPr lang="en-US" dirty="0"/>
              <a:t>                                   </a:t>
            </a:r>
            <a:endParaRPr lang="en-GB" dirty="0"/>
          </a:p>
        </p:txBody>
      </p:sp>
    </p:spTree>
    <p:extLst>
      <p:ext uri="{BB962C8B-B14F-4D97-AF65-F5344CB8AC3E}">
        <p14:creationId xmlns:p14="http://schemas.microsoft.com/office/powerpoint/2010/main" val="1455318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D5CC5-EF74-43E8-3468-98293FBC0730}"/>
              </a:ext>
            </a:extLst>
          </p:cNvPr>
          <p:cNvSpPr>
            <a:spLocks noGrp="1"/>
          </p:cNvSpPr>
          <p:nvPr>
            <p:ph type="title"/>
          </p:nvPr>
        </p:nvSpPr>
        <p:spPr>
          <a:xfrm>
            <a:off x="1" y="527405"/>
            <a:ext cx="6858000" cy="1260755"/>
          </a:xfrm>
          <a:solidFill>
            <a:schemeClr val="accent2"/>
          </a:solidFill>
        </p:spPr>
        <p:txBody>
          <a:bodyPr/>
          <a:lstStyle/>
          <a:p>
            <a:r>
              <a:rPr lang="en-US" dirty="0"/>
              <a:t>    </a:t>
            </a:r>
            <a:r>
              <a:rPr lang="en-US" b="1" dirty="0"/>
              <a:t>Progress and learnings</a:t>
            </a:r>
          </a:p>
        </p:txBody>
      </p:sp>
      <p:sp>
        <p:nvSpPr>
          <p:cNvPr id="4" name="Slide Number Placeholder 3">
            <a:extLst>
              <a:ext uri="{FF2B5EF4-FFF2-40B4-BE49-F238E27FC236}">
                <a16:creationId xmlns:a16="http://schemas.microsoft.com/office/drawing/2014/main" id="{5D4686EF-501F-2739-0003-C0D80477D5B2}"/>
              </a:ext>
            </a:extLst>
          </p:cNvPr>
          <p:cNvSpPr>
            <a:spLocks noGrp="1"/>
          </p:cNvSpPr>
          <p:nvPr>
            <p:ph type="sldNum" sz="quarter" idx="12"/>
          </p:nvPr>
        </p:nvSpPr>
        <p:spPr/>
        <p:txBody>
          <a:bodyPr/>
          <a:lstStyle/>
          <a:p>
            <a:fld id="{48F63A3B-78C7-47BE-AE5E-E10140E04643}" type="slidenum">
              <a:rPr lang="en-US" smtClean="0"/>
              <a:pPr/>
              <a:t>14</a:t>
            </a:fld>
            <a:endParaRPr lang="en-US" dirty="0"/>
          </a:p>
        </p:txBody>
      </p:sp>
      <p:sp>
        <p:nvSpPr>
          <p:cNvPr id="16" name="TextBox 15">
            <a:extLst>
              <a:ext uri="{FF2B5EF4-FFF2-40B4-BE49-F238E27FC236}">
                <a16:creationId xmlns:a16="http://schemas.microsoft.com/office/drawing/2014/main" id="{40B08ED6-3914-43AC-25EF-FC50C00EC5D1}"/>
              </a:ext>
            </a:extLst>
          </p:cNvPr>
          <p:cNvSpPr txBox="1"/>
          <p:nvPr/>
        </p:nvSpPr>
        <p:spPr>
          <a:xfrm>
            <a:off x="0" y="2326640"/>
            <a:ext cx="6858000" cy="1513840"/>
          </a:xfrm>
          <a:prstGeom prst="rect">
            <a:avLst/>
          </a:prstGeom>
          <a:solidFill>
            <a:schemeClr val="accent2"/>
          </a:solidFill>
        </p:spPr>
        <p:txBody>
          <a:bodyPr wrap="square" rtlCol="0">
            <a:spAutoFit/>
          </a:bodyPr>
          <a:lstStyle/>
          <a:p>
            <a:endParaRPr lang="en-US" dirty="0"/>
          </a:p>
        </p:txBody>
      </p:sp>
      <p:sp>
        <p:nvSpPr>
          <p:cNvPr id="17" name="TextBox 16">
            <a:extLst>
              <a:ext uri="{FF2B5EF4-FFF2-40B4-BE49-F238E27FC236}">
                <a16:creationId xmlns:a16="http://schemas.microsoft.com/office/drawing/2014/main" id="{558AACC4-CE89-3B61-A5F0-8A572960F0A2}"/>
              </a:ext>
            </a:extLst>
          </p:cNvPr>
          <p:cNvSpPr txBox="1"/>
          <p:nvPr/>
        </p:nvSpPr>
        <p:spPr>
          <a:xfrm>
            <a:off x="2631440" y="2326640"/>
            <a:ext cx="4226560" cy="1477328"/>
          </a:xfrm>
          <a:prstGeom prst="rect">
            <a:avLst/>
          </a:prstGeom>
          <a:noFill/>
        </p:spPr>
        <p:txBody>
          <a:bodyPr wrap="square" rtlCol="0">
            <a:spAutoFit/>
          </a:bodyPr>
          <a:lstStyle/>
          <a:p>
            <a:r>
              <a:rPr lang="en-US" dirty="0"/>
              <a:t>Development of Project charter</a:t>
            </a:r>
          </a:p>
          <a:p>
            <a:endParaRPr lang="en-US" dirty="0"/>
          </a:p>
          <a:p>
            <a:pPr marL="285750" indent="-285750">
              <a:buFont typeface="Arial" panose="020B0604020202020204" pitchFamily="34" charset="0"/>
              <a:buChar char="•"/>
            </a:pPr>
            <a:r>
              <a:rPr lang="en-US" dirty="0"/>
              <a:t> I have developed project charter and I  am currently on planning phase.</a:t>
            </a:r>
          </a:p>
          <a:p>
            <a:endParaRPr lang="en-US" dirty="0"/>
          </a:p>
        </p:txBody>
      </p:sp>
      <p:pic>
        <p:nvPicPr>
          <p:cNvPr id="1028" name="Picture 4" descr="completed-icon-6 - King Materials Handling">
            <a:extLst>
              <a:ext uri="{FF2B5EF4-FFF2-40B4-BE49-F238E27FC236}">
                <a16:creationId xmlns:a16="http://schemas.microsoft.com/office/drawing/2014/main" id="{0144DB25-2D3C-3631-6BDF-ACF84669F0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412" y="2465139"/>
            <a:ext cx="1708468" cy="1182301"/>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BE486E59-9E2C-FDD6-5691-D154DE543F86}"/>
              </a:ext>
            </a:extLst>
          </p:cNvPr>
          <p:cNvSpPr txBox="1"/>
          <p:nvPr/>
        </p:nvSpPr>
        <p:spPr>
          <a:xfrm>
            <a:off x="0" y="3972560"/>
            <a:ext cx="6858000" cy="1657538"/>
          </a:xfrm>
          <a:prstGeom prst="rect">
            <a:avLst/>
          </a:prstGeom>
          <a:solidFill>
            <a:schemeClr val="accent2"/>
          </a:solidFill>
        </p:spPr>
        <p:txBody>
          <a:bodyPr wrap="square" rtlCol="0">
            <a:spAutoFit/>
          </a:bodyPr>
          <a:lstStyle/>
          <a:p>
            <a:endParaRPr lang="en-US" dirty="0"/>
          </a:p>
        </p:txBody>
      </p:sp>
      <p:sp>
        <p:nvSpPr>
          <p:cNvPr id="19" name="TextBox 18">
            <a:extLst>
              <a:ext uri="{FF2B5EF4-FFF2-40B4-BE49-F238E27FC236}">
                <a16:creationId xmlns:a16="http://schemas.microsoft.com/office/drawing/2014/main" id="{A325061A-E000-083B-CB46-53BBBA7C9DCE}"/>
              </a:ext>
            </a:extLst>
          </p:cNvPr>
          <p:cNvSpPr txBox="1"/>
          <p:nvPr/>
        </p:nvSpPr>
        <p:spPr>
          <a:xfrm>
            <a:off x="2673668" y="3983809"/>
            <a:ext cx="4184332" cy="1477328"/>
          </a:xfrm>
          <a:prstGeom prst="rect">
            <a:avLst/>
          </a:prstGeom>
          <a:noFill/>
        </p:spPr>
        <p:txBody>
          <a:bodyPr wrap="square" rtlCol="0">
            <a:spAutoFit/>
          </a:bodyPr>
          <a:lstStyle/>
          <a:p>
            <a:r>
              <a:rPr lang="en-US" dirty="0"/>
              <a:t>Learning Phase</a:t>
            </a:r>
          </a:p>
          <a:p>
            <a:endParaRPr lang="en-US" dirty="0"/>
          </a:p>
          <a:p>
            <a:pPr marL="285750" indent="-285750">
              <a:buFont typeface="Arial" panose="020B0604020202020204" pitchFamily="34" charset="0"/>
              <a:buChar char="•"/>
            </a:pPr>
            <a:r>
              <a:rPr lang="en-US" dirty="0"/>
              <a:t>I have started learning required algorithms.</a:t>
            </a:r>
          </a:p>
          <a:p>
            <a:endParaRPr lang="en-US" dirty="0"/>
          </a:p>
        </p:txBody>
      </p:sp>
      <p:pic>
        <p:nvPicPr>
          <p:cNvPr id="1026" name="Picture 2" descr="Clipart - Learn icon">
            <a:extLst>
              <a:ext uri="{FF2B5EF4-FFF2-40B4-BE49-F238E27FC236}">
                <a16:creationId xmlns:a16="http://schemas.microsoft.com/office/drawing/2014/main" id="{861AD467-BAB6-B863-453F-9E9DE228CE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5120" y="4044409"/>
            <a:ext cx="1728788" cy="15138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F8015619-F269-6E37-70B8-7585B953F13E}"/>
              </a:ext>
            </a:extLst>
          </p:cNvPr>
          <p:cNvSpPr txBox="1"/>
          <p:nvPr/>
        </p:nvSpPr>
        <p:spPr>
          <a:xfrm>
            <a:off x="0" y="5770880"/>
            <a:ext cx="6858000" cy="1520181"/>
          </a:xfrm>
          <a:prstGeom prst="rect">
            <a:avLst/>
          </a:prstGeom>
          <a:solidFill>
            <a:schemeClr val="accent2"/>
          </a:solidFill>
        </p:spPr>
        <p:txBody>
          <a:bodyPr wrap="square" rtlCol="0">
            <a:spAutoFit/>
          </a:bodyPr>
          <a:lstStyle/>
          <a:p>
            <a:endParaRPr lang="en-US" dirty="0"/>
          </a:p>
        </p:txBody>
      </p:sp>
      <p:sp>
        <p:nvSpPr>
          <p:cNvPr id="21" name="TextBox 20">
            <a:extLst>
              <a:ext uri="{FF2B5EF4-FFF2-40B4-BE49-F238E27FC236}">
                <a16:creationId xmlns:a16="http://schemas.microsoft.com/office/drawing/2014/main" id="{BAFC21A4-AE27-3FEE-8B03-C38A10AB302C}"/>
              </a:ext>
            </a:extLst>
          </p:cNvPr>
          <p:cNvSpPr txBox="1"/>
          <p:nvPr/>
        </p:nvSpPr>
        <p:spPr>
          <a:xfrm>
            <a:off x="2783840" y="5762178"/>
            <a:ext cx="4074160" cy="1754326"/>
          </a:xfrm>
          <a:prstGeom prst="rect">
            <a:avLst/>
          </a:prstGeom>
          <a:noFill/>
        </p:spPr>
        <p:txBody>
          <a:bodyPr wrap="square" rtlCol="0">
            <a:spAutoFit/>
          </a:bodyPr>
          <a:lstStyle/>
          <a:p>
            <a:r>
              <a:rPr lang="en-US" dirty="0"/>
              <a:t>Setting up Development Environment</a:t>
            </a:r>
          </a:p>
          <a:p>
            <a:endParaRPr lang="en-US" dirty="0"/>
          </a:p>
          <a:p>
            <a:pPr marL="285750" indent="-285750">
              <a:buFont typeface="Arial" panose="020B0604020202020204" pitchFamily="34" charset="0"/>
              <a:buChar char="•"/>
            </a:pPr>
            <a:r>
              <a:rPr lang="en-US" dirty="0"/>
              <a:t>I have been learning how to set-up environment in python and how to use Django. </a:t>
            </a:r>
          </a:p>
          <a:p>
            <a:endParaRPr lang="en-US" dirty="0"/>
          </a:p>
        </p:txBody>
      </p:sp>
      <p:sp>
        <p:nvSpPr>
          <p:cNvPr id="10" name="Rectangle: Rounded Corners 9" descr="Scientist">
            <a:extLst>
              <a:ext uri="{FF2B5EF4-FFF2-40B4-BE49-F238E27FC236}">
                <a16:creationId xmlns:a16="http://schemas.microsoft.com/office/drawing/2014/main" id="{0ED1824C-410E-466D-B635-36AD1C8392E3}"/>
              </a:ext>
            </a:extLst>
          </p:cNvPr>
          <p:cNvSpPr/>
          <p:nvPr/>
        </p:nvSpPr>
        <p:spPr>
          <a:xfrm>
            <a:off x="71120" y="5770880"/>
            <a:ext cx="2246947" cy="1520181"/>
          </a:xfrm>
          <a:prstGeom prst="roundRect">
            <a:avLst>
              <a:gd name="adj" fmla="val 10000"/>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extLst>
      <p:ext uri="{BB962C8B-B14F-4D97-AF65-F5344CB8AC3E}">
        <p14:creationId xmlns:p14="http://schemas.microsoft.com/office/powerpoint/2010/main" val="4146006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02D3-4AF6-0002-F51E-77E74D59E228}"/>
              </a:ext>
            </a:extLst>
          </p:cNvPr>
          <p:cNvSpPr>
            <a:spLocks noGrp="1"/>
          </p:cNvSpPr>
          <p:nvPr>
            <p:ph type="title"/>
          </p:nvPr>
        </p:nvSpPr>
        <p:spPr>
          <a:xfrm>
            <a:off x="0" y="0"/>
            <a:ext cx="6857999" cy="1337481"/>
          </a:xfrm>
          <a:solidFill>
            <a:schemeClr val="accent2"/>
          </a:solidFill>
        </p:spPr>
        <p:txBody>
          <a:bodyPr/>
          <a:lstStyle/>
          <a:p>
            <a:r>
              <a:rPr lang="en-US" b="1" dirty="0">
                <a:cs typeface="Calibri Light"/>
              </a:rPr>
              <a:t>        Implementation</a:t>
            </a:r>
          </a:p>
        </p:txBody>
      </p:sp>
      <p:sp>
        <p:nvSpPr>
          <p:cNvPr id="3" name="Content Placeholder 2">
            <a:extLst>
              <a:ext uri="{FF2B5EF4-FFF2-40B4-BE49-F238E27FC236}">
                <a16:creationId xmlns:a16="http://schemas.microsoft.com/office/drawing/2014/main" id="{95F7EFE7-6B25-A7D8-C2C1-9E17A64C03D5}"/>
              </a:ext>
            </a:extLst>
          </p:cNvPr>
          <p:cNvSpPr>
            <a:spLocks noGrp="1"/>
          </p:cNvSpPr>
          <p:nvPr>
            <p:ph idx="1"/>
          </p:nvPr>
        </p:nvSpPr>
        <p:spPr>
          <a:xfrm>
            <a:off x="256699" y="1775707"/>
            <a:ext cx="5915025" cy="6354586"/>
          </a:xfrm>
        </p:spPr>
        <p:txBody>
          <a:bodyPr vert="horz" lIns="91440" tIns="45720" rIns="91440" bIns="45720" rtlCol="0" anchor="t">
            <a:normAutofit/>
          </a:bodyPr>
          <a:lstStyle/>
          <a:p>
            <a:pPr marL="0" indent="0">
              <a:buNone/>
            </a:pPr>
            <a:r>
              <a:rPr lang="en-US" b="1" dirty="0">
                <a:cs typeface="Calibri" panose="020F0502020204030204"/>
              </a:rPr>
              <a:t>                  </a:t>
            </a:r>
            <a:endParaRPr lang="en-US" sz="3000" b="1" dirty="0">
              <a:solidFill>
                <a:schemeClr val="accent2"/>
              </a:solidFill>
              <a:cs typeface="Calibri" panose="020F0502020204030204"/>
            </a:endParaRPr>
          </a:p>
          <a:p>
            <a:pPr marL="0" indent="0">
              <a:buNone/>
            </a:pPr>
            <a:r>
              <a:rPr lang="en-US" dirty="0">
                <a:ea typeface="+mn-lt"/>
                <a:cs typeface="+mn-lt"/>
              </a:rPr>
              <a:t>System implementation involves in building proper working system, installation of it in to the organization, replacing previous system into a new one and providing the documentation and training for the user. System implementation also prepares a support system to assist users when a client gets into some difficulties. </a:t>
            </a:r>
          </a:p>
          <a:p>
            <a:pPr marL="0" indent="0">
              <a:buNone/>
            </a:pPr>
            <a:r>
              <a:rPr lang="en-US" dirty="0">
                <a:ea typeface="+mn-lt"/>
                <a:cs typeface="+mn-lt"/>
              </a:rPr>
              <a:t>Our project Online Doctor Appointment system is now implemented using different tools (HTML, CSS,  Python and Django ).</a:t>
            </a:r>
          </a:p>
          <a:p>
            <a:pPr marL="0" indent="0">
              <a:buNone/>
            </a:pPr>
            <a:r>
              <a:rPr lang="en-US" sz="2400" dirty="0">
                <a:ea typeface="+mn-lt"/>
                <a:cs typeface="+mn-lt"/>
              </a:rPr>
              <a:t> </a:t>
            </a:r>
            <a:endParaRPr lang="en-US" sz="2400" dirty="0">
              <a:cs typeface="Calibri"/>
            </a:endParaRPr>
          </a:p>
        </p:txBody>
      </p:sp>
      <p:sp>
        <p:nvSpPr>
          <p:cNvPr id="5" name="Slide Number Placeholder 4"/>
          <p:cNvSpPr>
            <a:spLocks noGrp="1"/>
          </p:cNvSpPr>
          <p:nvPr>
            <p:ph type="sldNum" sz="quarter" idx="12"/>
          </p:nvPr>
        </p:nvSpPr>
        <p:spPr/>
        <p:txBody>
          <a:bodyPr/>
          <a:lstStyle/>
          <a:p>
            <a:fld id="{48F63A3B-78C7-47BE-AE5E-E10140E04643}" type="slidenum">
              <a:rPr lang="en-US" smtClean="0"/>
              <a:t>15</a:t>
            </a:fld>
            <a:endParaRPr lang="en-US" dirty="0"/>
          </a:p>
        </p:txBody>
      </p:sp>
    </p:spTree>
    <p:extLst>
      <p:ext uri="{BB962C8B-B14F-4D97-AF65-F5344CB8AC3E}">
        <p14:creationId xmlns:p14="http://schemas.microsoft.com/office/powerpoint/2010/main" val="4174513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6362D-3432-D77F-7D73-F138241AB363}"/>
              </a:ext>
            </a:extLst>
          </p:cNvPr>
          <p:cNvSpPr>
            <a:spLocks noGrp="1"/>
          </p:cNvSpPr>
          <p:nvPr>
            <p:ph type="title"/>
          </p:nvPr>
        </p:nvSpPr>
        <p:spPr>
          <a:xfrm>
            <a:off x="0" y="0"/>
            <a:ext cx="6857999" cy="954147"/>
          </a:xfrm>
          <a:solidFill>
            <a:schemeClr val="accent2"/>
          </a:solidFill>
        </p:spPr>
        <p:txBody>
          <a:bodyPr/>
          <a:lstStyle/>
          <a:p>
            <a:r>
              <a:rPr lang="en-US" b="1" dirty="0">
                <a:cs typeface="Calibri Light"/>
              </a:rPr>
              <a:t>           Evaluation</a:t>
            </a:r>
            <a:endParaRPr lang="en-US" b="1" dirty="0"/>
          </a:p>
        </p:txBody>
      </p:sp>
      <p:sp>
        <p:nvSpPr>
          <p:cNvPr id="3" name="Content Placeholder 2">
            <a:extLst>
              <a:ext uri="{FF2B5EF4-FFF2-40B4-BE49-F238E27FC236}">
                <a16:creationId xmlns:a16="http://schemas.microsoft.com/office/drawing/2014/main" id="{A8ADD7EB-DA63-0157-4C4D-82DD502B6C01}"/>
              </a:ext>
            </a:extLst>
          </p:cNvPr>
          <p:cNvSpPr>
            <a:spLocks noGrp="1"/>
          </p:cNvSpPr>
          <p:nvPr>
            <p:ph idx="1"/>
          </p:nvPr>
        </p:nvSpPr>
        <p:spPr>
          <a:xfrm>
            <a:off x="328617" y="1271422"/>
            <a:ext cx="5915025" cy="8634578"/>
          </a:xfrm>
        </p:spPr>
        <p:txBody>
          <a:bodyPr vert="horz" lIns="91440" tIns="45720" rIns="91440" bIns="45720" rtlCol="0" anchor="t">
            <a:normAutofit lnSpcReduction="10000"/>
          </a:bodyPr>
          <a:lstStyle/>
          <a:p>
            <a:pPr marL="0" indent="0">
              <a:buNone/>
            </a:pPr>
            <a:r>
              <a:rPr lang="en-US" sz="3000" dirty="0">
                <a:cs typeface="Calibri" panose="020F0502020204030204"/>
              </a:rPr>
              <a:t>           </a:t>
            </a:r>
            <a:r>
              <a:rPr lang="en-US" sz="3000" b="1" dirty="0">
                <a:solidFill>
                  <a:schemeClr val="accent2"/>
                </a:solidFill>
                <a:cs typeface="Calibri" panose="020F0502020204030204"/>
              </a:rPr>
              <a:t>Evaluation Criteria</a:t>
            </a:r>
          </a:p>
          <a:p>
            <a:pPr>
              <a:buFont typeface="Arial"/>
              <a:buChar char="•"/>
            </a:pPr>
            <a:r>
              <a:rPr lang="en-US" dirty="0">
                <a:ea typeface="+mn-lt"/>
                <a:cs typeface="+mn-lt"/>
              </a:rPr>
              <a:t>User Experience: The system should be easy to use . The user interface should be simple and responsive, making it enabling the patients to book appointments and doctors to manage their schedules.</a:t>
            </a:r>
            <a:endParaRPr lang="en-US" dirty="0">
              <a:cs typeface="Calibri"/>
            </a:endParaRPr>
          </a:p>
          <a:p>
            <a:pPr>
              <a:buFont typeface="Arial"/>
              <a:buChar char="•"/>
            </a:pPr>
            <a:r>
              <a:rPr lang="en-US" dirty="0">
                <a:ea typeface="+mn-lt"/>
                <a:cs typeface="+mn-lt"/>
              </a:rPr>
              <a:t>Features : The system should be able to provide features for booking appointments, including the ability to view doctor profiles, select appointment date, and cancel  appointments.</a:t>
            </a:r>
            <a:endParaRPr lang="en-US" dirty="0">
              <a:cs typeface="Calibri"/>
            </a:endParaRPr>
          </a:p>
          <a:p>
            <a:pPr>
              <a:buFont typeface="Arial"/>
              <a:buChar char="•"/>
            </a:pPr>
            <a:r>
              <a:rPr lang="en-US" dirty="0">
                <a:ea typeface="+mn-lt"/>
                <a:cs typeface="+mn-lt"/>
              </a:rPr>
              <a:t>Security: The system should be secure and protect patient information. Privacy should not be harmed</a:t>
            </a:r>
          </a:p>
          <a:p>
            <a:pPr>
              <a:buFont typeface="Arial"/>
              <a:buChar char="•"/>
            </a:pPr>
            <a:r>
              <a:rPr lang="en-US" dirty="0">
                <a:ea typeface="+mn-lt"/>
                <a:cs typeface="+mn-lt"/>
              </a:rPr>
              <a:t>Performance: The system should be fast and responsive.</a:t>
            </a:r>
            <a:endParaRPr lang="en-US" dirty="0">
              <a:cs typeface="Calibri"/>
            </a:endParaRPr>
          </a:p>
          <a:p>
            <a:pPr marL="0" indent="0">
              <a:buNone/>
            </a:pPr>
            <a:r>
              <a:rPr lang="en-US" dirty="0">
                <a:cs typeface="Calibri"/>
              </a:rPr>
              <a:t>Online Doctor appointment system will meet the above criteria and provide efficient way for patients to book an appointment.</a:t>
            </a:r>
            <a:endParaRPr lang="en-US" dirty="0"/>
          </a:p>
          <a:p>
            <a:pPr marL="0" indent="0">
              <a:buNone/>
            </a:pPr>
            <a:endParaRPr lang="en-US" dirty="0">
              <a:cs typeface="Calibri" panose="020F0502020204030204"/>
            </a:endParaRPr>
          </a:p>
        </p:txBody>
      </p:sp>
      <p:sp>
        <p:nvSpPr>
          <p:cNvPr id="4" name="Slide Number Placeholder 3"/>
          <p:cNvSpPr>
            <a:spLocks noGrp="1"/>
          </p:cNvSpPr>
          <p:nvPr>
            <p:ph type="sldNum" sz="quarter" idx="12"/>
          </p:nvPr>
        </p:nvSpPr>
        <p:spPr/>
        <p:txBody>
          <a:bodyPr/>
          <a:lstStyle/>
          <a:p>
            <a:fld id="{48F63A3B-78C7-47BE-AE5E-E10140E04643}" type="slidenum">
              <a:rPr lang="en-US" smtClean="0"/>
              <a:t>16</a:t>
            </a:fld>
            <a:endParaRPr lang="en-US" dirty="0"/>
          </a:p>
        </p:txBody>
      </p:sp>
    </p:spTree>
    <p:extLst>
      <p:ext uri="{BB962C8B-B14F-4D97-AF65-F5344CB8AC3E}">
        <p14:creationId xmlns:p14="http://schemas.microsoft.com/office/powerpoint/2010/main" val="4022935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121D2-630C-DE73-9333-49D8745FA3C0}"/>
              </a:ext>
            </a:extLst>
          </p:cNvPr>
          <p:cNvSpPr>
            <a:spLocks noGrp="1"/>
          </p:cNvSpPr>
          <p:nvPr>
            <p:ph type="title"/>
          </p:nvPr>
        </p:nvSpPr>
        <p:spPr>
          <a:xfrm>
            <a:off x="0" y="0"/>
            <a:ext cx="6858000" cy="1311112"/>
          </a:xfrm>
          <a:solidFill>
            <a:schemeClr val="accent2"/>
          </a:solidFill>
        </p:spPr>
        <p:txBody>
          <a:bodyPr>
            <a:normAutofit/>
          </a:bodyPr>
          <a:lstStyle/>
          <a:p>
            <a:r>
              <a:rPr lang="en-US" b="1" dirty="0"/>
              <a:t>              Future plan</a:t>
            </a:r>
          </a:p>
        </p:txBody>
      </p:sp>
      <p:sp>
        <p:nvSpPr>
          <p:cNvPr id="3" name="Content Placeholder 2">
            <a:extLst>
              <a:ext uri="{FF2B5EF4-FFF2-40B4-BE49-F238E27FC236}">
                <a16:creationId xmlns:a16="http://schemas.microsoft.com/office/drawing/2014/main" id="{810F5BF5-4EA2-6E81-34C1-13D2F896CC4C}"/>
              </a:ext>
            </a:extLst>
          </p:cNvPr>
          <p:cNvSpPr>
            <a:spLocks noGrp="1"/>
          </p:cNvSpPr>
          <p:nvPr>
            <p:ph idx="1"/>
          </p:nvPr>
        </p:nvSpPr>
        <p:spPr>
          <a:xfrm>
            <a:off x="471489" y="1528549"/>
            <a:ext cx="5915025" cy="3866411"/>
          </a:xfrm>
        </p:spPr>
        <p:txBody>
          <a:bodyPr/>
          <a:lstStyle/>
          <a:p>
            <a:r>
              <a:rPr lang="en-US" b="0" i="0" dirty="0">
                <a:solidFill>
                  <a:srgbClr val="111111"/>
                </a:solidFill>
                <a:effectLst/>
                <a:latin typeface="-apple-system"/>
              </a:rPr>
              <a:t>To review the literature and summarize my learnings.</a:t>
            </a:r>
          </a:p>
          <a:p>
            <a:r>
              <a:rPr lang="en-US" dirty="0"/>
              <a:t>To analyze and select best model from the available models.</a:t>
            </a:r>
          </a:p>
          <a:p>
            <a:r>
              <a:rPr lang="en-US" dirty="0"/>
              <a:t>To code and run</a:t>
            </a:r>
          </a:p>
          <a:p>
            <a:r>
              <a:rPr lang="en-US" dirty="0"/>
              <a:t>To create proper Documentation</a:t>
            </a:r>
          </a:p>
          <a:p>
            <a:r>
              <a:rPr lang="en-US" dirty="0"/>
              <a:t>To create Report</a:t>
            </a:r>
          </a:p>
          <a:p>
            <a:endParaRPr lang="en-US" dirty="0"/>
          </a:p>
        </p:txBody>
      </p:sp>
      <p:sp>
        <p:nvSpPr>
          <p:cNvPr id="4" name="Slide Number Placeholder 3">
            <a:extLst>
              <a:ext uri="{FF2B5EF4-FFF2-40B4-BE49-F238E27FC236}">
                <a16:creationId xmlns:a16="http://schemas.microsoft.com/office/drawing/2014/main" id="{41E1C9A1-22EF-742C-733B-EBD593BDFF2F}"/>
              </a:ext>
            </a:extLst>
          </p:cNvPr>
          <p:cNvSpPr>
            <a:spLocks noGrp="1"/>
          </p:cNvSpPr>
          <p:nvPr>
            <p:ph type="sldNum" sz="quarter" idx="12"/>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3886087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88B2-BA0F-129B-79CC-58E837FC6364}"/>
              </a:ext>
            </a:extLst>
          </p:cNvPr>
          <p:cNvSpPr>
            <a:spLocks noGrp="1"/>
          </p:cNvSpPr>
          <p:nvPr>
            <p:ph type="title"/>
          </p:nvPr>
        </p:nvSpPr>
        <p:spPr>
          <a:xfrm>
            <a:off x="0" y="0"/>
            <a:ext cx="6857999" cy="1203323"/>
          </a:xfrm>
          <a:solidFill>
            <a:schemeClr val="accent2"/>
          </a:solidFill>
        </p:spPr>
        <p:txBody>
          <a:bodyPr/>
          <a:lstStyle/>
          <a:p>
            <a:r>
              <a:rPr lang="en-US" b="1" dirty="0">
                <a:cs typeface="Calibri Light"/>
              </a:rPr>
              <a:t>            CONCLUSION</a:t>
            </a:r>
            <a:endParaRPr lang="en-US" b="1" dirty="0"/>
          </a:p>
        </p:txBody>
      </p:sp>
      <p:sp>
        <p:nvSpPr>
          <p:cNvPr id="3" name="Content Placeholder 2">
            <a:extLst>
              <a:ext uri="{FF2B5EF4-FFF2-40B4-BE49-F238E27FC236}">
                <a16:creationId xmlns:a16="http://schemas.microsoft.com/office/drawing/2014/main" id="{E3389416-D4A0-13A0-CE3A-859A380ADD71}"/>
              </a:ext>
            </a:extLst>
          </p:cNvPr>
          <p:cNvSpPr>
            <a:spLocks noGrp="1"/>
          </p:cNvSpPr>
          <p:nvPr>
            <p:ph idx="1"/>
          </p:nvPr>
        </p:nvSpPr>
        <p:spPr>
          <a:xfrm>
            <a:off x="136478" y="1465732"/>
            <a:ext cx="6721521" cy="7913868"/>
          </a:xfrm>
        </p:spPr>
        <p:txBody>
          <a:bodyPr vert="horz" lIns="91440" tIns="45720" rIns="91440" bIns="45720" rtlCol="0" anchor="t">
            <a:noAutofit/>
          </a:bodyPr>
          <a:lstStyle/>
          <a:p>
            <a:pPr marL="0" indent="0">
              <a:buNone/>
            </a:pPr>
            <a:r>
              <a:rPr lang="en-US" dirty="0">
                <a:ea typeface="+mn-lt"/>
                <a:cs typeface="+mn-lt"/>
              </a:rPr>
              <a:t>To sum up, the online doctor appointment system is a great way to book medical appointments. It has a lot of advantages, such as convenience, availability, and adaptability. Patients can make appointments anytime and from any place, so there's no need to go to a clinic or hospital in person. Doctors get to manage their work and patients more efficiently, cutting down time and reducing the chances of double-booking. Furthermore, it enhances communication between doctors and patients which is essential for successful treatment results. In conclusion, this system is very useful in improving healthcare delivery and the patient experience.</a:t>
            </a:r>
            <a:endParaRPr lang="en-US" dirty="0">
              <a:cs typeface="Calibri" panose="020F0502020204030204"/>
            </a:endParaRPr>
          </a:p>
        </p:txBody>
      </p:sp>
      <p:sp>
        <p:nvSpPr>
          <p:cNvPr id="4" name="Slide Number Placeholder 3"/>
          <p:cNvSpPr>
            <a:spLocks noGrp="1"/>
          </p:cNvSpPr>
          <p:nvPr>
            <p:ph type="sldNum" sz="quarter" idx="12"/>
          </p:nvPr>
        </p:nvSpPr>
        <p:spPr/>
        <p:txBody>
          <a:bodyPr/>
          <a:lstStyle/>
          <a:p>
            <a:fld id="{48F63A3B-78C7-47BE-AE5E-E10140E04643}" type="slidenum">
              <a:rPr lang="en-US" smtClean="0"/>
              <a:t>18</a:t>
            </a:fld>
            <a:endParaRPr lang="en-US" dirty="0"/>
          </a:p>
        </p:txBody>
      </p:sp>
    </p:spTree>
    <p:extLst>
      <p:ext uri="{BB962C8B-B14F-4D97-AF65-F5344CB8AC3E}">
        <p14:creationId xmlns:p14="http://schemas.microsoft.com/office/powerpoint/2010/main" val="25903705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202</TotalTime>
  <Words>1202</Words>
  <Application>Microsoft Office PowerPoint</Application>
  <PresentationFormat>A4 Paper (210x297 mm)</PresentationFormat>
  <Paragraphs>157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-apple-system</vt:lpstr>
      <vt:lpstr>Arial</vt:lpstr>
      <vt:lpstr>Calibri</vt:lpstr>
      <vt:lpstr>Calibri Light</vt:lpstr>
      <vt:lpstr>Office Theme</vt:lpstr>
      <vt:lpstr>PowerPoint Presentation</vt:lpstr>
      <vt:lpstr>                ABSTRACT</vt:lpstr>
      <vt:lpstr>       ACKNOWLEDGEMENT</vt:lpstr>
      <vt:lpstr>           INTRODUCTION</vt:lpstr>
      <vt:lpstr>PowerPoint Presentation</vt:lpstr>
      <vt:lpstr>       LITERATURE REVIEW</vt:lpstr>
      <vt:lpstr>PowerPoint Presentation</vt:lpstr>
      <vt:lpstr>   Functional requirements</vt:lpstr>
      <vt:lpstr>Non-functional requirements</vt:lpstr>
      <vt:lpstr>                Risk table</vt:lpstr>
      <vt:lpstr>            Methodology</vt:lpstr>
      <vt:lpstr>Summary of Risk Mitigation      Strategy</vt:lpstr>
      <vt:lpstr>       Gantt Chart</vt:lpstr>
      <vt:lpstr>    Progress and learnings</vt:lpstr>
      <vt:lpstr>        Implementation</vt:lpstr>
      <vt:lpstr>           Evaluation</vt:lpstr>
      <vt:lpstr>              Future plan</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Legion</dc:creator>
  <cp:lastModifiedBy>Himal Subedi</cp:lastModifiedBy>
  <cp:revision>622</cp:revision>
  <dcterms:created xsi:type="dcterms:W3CDTF">2023-03-09T07:27:54Z</dcterms:created>
  <dcterms:modified xsi:type="dcterms:W3CDTF">2023-03-22T12:29:29Z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2023-03-19T22:00:57Z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7dc4a106-e1bc-4bd0-a2bc-a3452ccc7e80</vt:lpwstr>
  </property>
  <property fmtid="{D5CDD505-2E9C-101B-9397-08002B2CF9AE}" pid="7" name="MSIP_Label_defa4170-0d19-0005-0004-bc88714345d2_ActionId">
    <vt:lpwstr>0fef2c92-0d24-4632-8a5d-dd25bd8721a1</vt:lpwstr>
  </property>
  <property fmtid="{D5CDD505-2E9C-101B-9397-08002B2CF9AE}" pid="8" name="MSIP_Label_defa4170-0d19-0005-0004-bc88714345d2_ContentBits">
    <vt:lpwstr>0</vt:lpwstr>
  </property>
</Properties>
</file>